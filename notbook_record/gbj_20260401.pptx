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14"/>
  </p:handoutMasterIdLst>
  <p:sldIdLst>
    <p:sldId id="265" r:id="rId3"/>
    <p:sldId id="256" r:id="rId4"/>
    <p:sldId id="257" r:id="rId6"/>
    <p:sldId id="258" r:id="rId7"/>
    <p:sldId id="259" r:id="rId8"/>
    <p:sldId id="260" r:id="rId9"/>
    <p:sldId id="261" r:id="rId10"/>
    <p:sldId id="262" r:id="rId11"/>
    <p:sldId id="263" r:id="rId12"/>
    <p:sldId id="264"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handoutMaster" Target="handoutMasters/handoutMaster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a:p>
            <a:r>
              <a:rPr lang="en-US" altLang="zh-CN"/>
              <a:t>AlphaFold2.ipynb</a:t>
            </a:r>
            <a:endParaRPr lang="en-US" altLang="zh-CN"/>
          </a:p>
          <a:p>
            <a:r>
              <a:rPr lang="en-US" altLang="zh-CN"/>
              <a:t>AlphaFold2.ipynb_</a:t>
            </a:r>
            <a:endParaRPr lang="en-US" altLang="zh-CN"/>
          </a:p>
          <a:p>
            <a:endParaRPr lang="en-US" altLang="zh-CN"/>
          </a:p>
          <a:p>
            <a:r>
              <a:rPr lang="en-US" altLang="zh-CN"/>
              <a:t>ColabFold v1.6.1: AlphaFold2 using MMseqs2</a:t>
            </a:r>
            <a:endParaRPr lang="en-US" altLang="zh-CN"/>
          </a:p>
          <a:p>
            <a:r>
              <a:rPr lang="en-US" altLang="zh-CN"/>
              <a:t>Easy to use protein structure and complex prediction using AlphaFold2 and Alphafold2-multimer. Sequence alignments/templates are generated through MMseqs2 and HHsearch. For more details, see bottom of the notebook, checkout the ColabFold GitHub and Nature Protocols.</a:t>
            </a:r>
            <a:endParaRPr lang="en-US" altLang="zh-CN"/>
          </a:p>
          <a:p>
            <a:endParaRPr lang="en-US" altLang="zh-CN"/>
          </a:p>
          <a:p>
            <a:r>
              <a:rPr lang="en-US" altLang="zh-CN"/>
              <a:t>Old versions: v1.4, v1.5.1, v1.5.2, v1.5.3-patch</a:t>
            </a:r>
            <a:endParaRPr lang="en-US" altLang="zh-CN"/>
          </a:p>
          <a:p>
            <a:endParaRPr lang="en-US" altLang="zh-CN"/>
          </a:p>
          <a:p>
            <a:r>
              <a:rPr lang="en-US" altLang="zh-CN"/>
              <a:t>Mirdita M, Sch</a:t>
            </a:r>
            <a:r>
              <a:rPr lang="en-US" altLang="en-US"/>
              <a:t>ü</a:t>
            </a:r>
            <a:r>
              <a:rPr lang="en-US" altLang="zh-CN"/>
              <a:t>tze K, Moriwaki Y, Heo L, Ovchinnikov S, Steinegger M. ColabFold: Making protein folding accessible to all. Nature Methods, 2022</a:t>
            </a:r>
            <a:endParaRPr lang="en-US" altLang="zh-CN"/>
          </a:p>
          <a:p>
            <a:endParaRPr lang="en-US" altLang="zh-CN"/>
          </a:p>
          <a:p>
            <a:r>
              <a:rPr lang="en-US" altLang="zh-CN"/>
              <a:t>Input protein sequence(s), then hit Runtime -&gt; Run all</a:t>
            </a:r>
            <a:endParaRPr lang="en-US" altLang="zh-CN"/>
          </a:p>
          <a:p>
            <a:endParaRPr lang="en-US" altLang="zh-CN"/>
          </a:p>
          <a:p>
            <a:r>
              <a:rPr lang="en-US" altLang="zh-CN"/>
              <a:t>[3]</a:t>
            </a:r>
            <a:endParaRPr lang="en-US" altLang="zh-CN"/>
          </a:p>
          <a:p>
            <a:r>
              <a:rPr lang="en-US" altLang="zh-CN"/>
              <a:t>0 </a:t>
            </a:r>
            <a:r>
              <a:rPr lang="zh-CN" altLang="en-US"/>
              <a:t>秒</a:t>
            </a:r>
            <a:endParaRPr lang="zh-CN" altLang="en-US"/>
          </a:p>
          <a:p>
            <a:r>
              <a:rPr lang="en-US" altLang="zh-CN"/>
              <a:t>query_sequence</a:t>
            </a:r>
            <a:endParaRPr lang="en-US" altLang="zh-CN"/>
          </a:p>
          <a:p>
            <a:r>
              <a:rPr lang="en-US" altLang="zh-CN"/>
              <a:t>AFTVTVPKDLYVVEYGSQMTIECKFPVEKQLDLAALIVYWEMEDKNIIQFVHGEEDLKVQHSSYRQRARLLKDQLSLGNAALQITDVKLQDAGVYRCMISYGGADYKRITVKVNAPY:AKKSEITIKITIKAEGKVVEVSEINISHSPSAEVKVEVKVESFEDGTLVVTIKITATGPVTISIDVTIKAKDGSEVKILEKKEEVEEKEL</a:t>
            </a:r>
            <a:endParaRPr lang="en-US" altLang="zh-CN"/>
          </a:p>
          <a:p>
            <a:r>
              <a:rPr lang="en-US" altLang="zh-CN"/>
              <a:t>Use : to specify inter-protein chainbreaks for modeling complexes (supports homo- and hetro-oligomers). For example PI...SK:PI...SK for a homodimer</a:t>
            </a:r>
            <a:endParaRPr lang="en-US" altLang="zh-CN"/>
          </a:p>
          <a:p>
            <a:r>
              <a:rPr lang="en-US" altLang="zh-CN"/>
              <a:t>jobname</a:t>
            </a:r>
            <a:endParaRPr lang="en-US" altLang="zh-CN"/>
          </a:p>
          <a:p>
            <a:r>
              <a:rPr lang="en-US" altLang="zh-CN"/>
              <a:t>test</a:t>
            </a:r>
            <a:endParaRPr lang="en-US" altLang="zh-CN"/>
          </a:p>
          <a:p>
            <a:r>
              <a:rPr lang="en-US" altLang="zh-CN"/>
              <a:t>num_relax</a:t>
            </a:r>
            <a:endParaRPr lang="en-US" altLang="zh-CN"/>
          </a:p>
          <a:p>
            <a:r>
              <a:rPr lang="en-US" altLang="zh-CN"/>
              <a:t>0</a:t>
            </a:r>
            <a:endParaRPr lang="en-US" altLang="zh-CN"/>
          </a:p>
          <a:p>
            <a:r>
              <a:rPr lang="en-US" altLang="zh-CN"/>
              <a:t>specify how many of the top ranked structures to relax using amber</a:t>
            </a:r>
            <a:endParaRPr lang="en-US" altLang="zh-CN"/>
          </a:p>
          <a:p>
            <a:r>
              <a:rPr lang="en-US" altLang="zh-CN"/>
              <a:t>template_mode</a:t>
            </a:r>
            <a:endParaRPr lang="en-US" altLang="zh-CN"/>
          </a:p>
          <a:p>
            <a:r>
              <a:rPr lang="en-US" altLang="zh-CN"/>
              <a:t>none</a:t>
            </a:r>
            <a:endParaRPr lang="en-US" altLang="zh-CN"/>
          </a:p>
          <a:p>
            <a:r>
              <a:rPr lang="en-US" altLang="zh-CN"/>
              <a:t>none = no template information is used. pdb100 = detect templates in pdb100 (see notes). custom - upload and search own templates (PDB or mmCIF format, see notes)</a:t>
            </a:r>
            <a:endParaRPr lang="en-US" altLang="zh-CN"/>
          </a:p>
          <a:p>
            <a:r>
              <a:rPr lang="en-US" altLang="zh-CN"/>
              <a:t>jobname test_d2ff4_0</a:t>
            </a:r>
            <a:endParaRPr lang="en-US" altLang="zh-CN"/>
          </a:p>
          <a:p>
            <a:r>
              <a:rPr lang="en-US" altLang="zh-CN"/>
              <a:t>sequence AFTVTVPKDLYVVEYGSQMTIECKFPVEKQLDLAALIVYWEMEDKNIIQFVHGEEDLKVQHSSYRQRARLLKDQLSLGNAALQITDVKLQDAGVYRCMISYGGADYKRITVKVNAPY:AKKSEITIKITIKAEGKVVEVSEINISHSPSAEVKVEVKVESFEDGTLVVTIKITATGPVTISIDVTIKAKDGSEVKILEKKEEVEEKEL</a:t>
            </a:r>
            <a:endParaRPr lang="en-US" altLang="zh-CN"/>
          </a:p>
          <a:p>
            <a:r>
              <a:rPr lang="en-US" altLang="zh-CN"/>
              <a:t>length 207</a:t>
            </a:r>
            <a:endParaRPr lang="en-US" altLang="zh-CN"/>
          </a:p>
          <a:p>
            <a:r>
              <a:rPr lang="en-US" altLang="zh-CN"/>
              <a:t>Install dependencies</a:t>
            </a:r>
            <a:endParaRPr lang="en-US" altLang="zh-CN"/>
          </a:p>
          <a:p>
            <a:endParaRPr lang="en-US" altLang="zh-CN"/>
          </a:p>
          <a:p>
            <a:r>
              <a:rPr lang="en-US" altLang="zh-CN"/>
              <a:t>[4]</a:t>
            </a:r>
            <a:endParaRPr lang="en-US" altLang="zh-CN"/>
          </a:p>
          <a:p>
            <a:r>
              <a:rPr lang="en-US" altLang="zh-CN"/>
              <a:t>0 </a:t>
            </a:r>
            <a:r>
              <a:rPr lang="zh-CN" altLang="en-US"/>
              <a:t>秒</a:t>
            </a:r>
            <a:endParaRPr lang="zh-CN" altLang="en-US"/>
          </a:p>
          <a:p>
            <a:r>
              <a:rPr lang="en-US" altLang="zh-CN"/>
              <a:t>CPU times: user 530 </a:t>
            </a:r>
            <a:r>
              <a:rPr lang="en-US" altLang="en-US"/>
              <a:t>µ</a:t>
            </a:r>
            <a:r>
              <a:rPr lang="en-US" altLang="zh-CN"/>
              <a:t>s, sys: 0 ns, total: 530 </a:t>
            </a:r>
            <a:r>
              <a:rPr lang="en-US" altLang="en-US"/>
              <a:t>µ</a:t>
            </a:r>
            <a:r>
              <a:rPr lang="en-US" altLang="zh-CN"/>
              <a:t>s</a:t>
            </a:r>
            <a:endParaRPr lang="en-US" altLang="zh-CN"/>
          </a:p>
          <a:p>
            <a:r>
              <a:rPr lang="en-US" altLang="zh-CN"/>
              <a:t>Wall time: 535 </a:t>
            </a:r>
            <a:r>
              <a:rPr lang="en-US" altLang="en-US"/>
              <a:t>µ</a:t>
            </a:r>
            <a:r>
              <a:rPr lang="en-US" altLang="zh-CN"/>
              <a:t>s</a:t>
            </a:r>
            <a:endParaRPr lang="en-US" altLang="zh-CN"/>
          </a:p>
          <a:p>
            <a:endParaRPr lang="en-US" altLang="zh-CN"/>
          </a:p>
          <a:p>
            <a:r>
              <a:rPr lang="en-US" altLang="zh-CN"/>
              <a:t>[5]</a:t>
            </a:r>
            <a:endParaRPr lang="en-US" altLang="zh-CN"/>
          </a:p>
          <a:p>
            <a:r>
              <a:rPr lang="en-US" altLang="zh-CN"/>
              <a:t>0 </a:t>
            </a:r>
            <a:r>
              <a:rPr lang="zh-CN" altLang="en-US"/>
              <a:t>秒</a:t>
            </a:r>
            <a:endParaRPr lang="zh-CN" altLang="en-US"/>
          </a:p>
          <a:p>
            <a:r>
              <a:rPr lang="en-US" altLang="zh-CN"/>
              <a:t>MSA options (custom MSA upload, single sequence, pairing mode)</a:t>
            </a:r>
            <a:endParaRPr lang="en-US" altLang="zh-CN"/>
          </a:p>
          <a:p>
            <a:r>
              <a:rPr lang="en-US" altLang="zh-CN"/>
              <a:t>msa_mode</a:t>
            </a:r>
            <a:endParaRPr lang="en-US" altLang="zh-CN"/>
          </a:p>
          <a:p>
            <a:r>
              <a:rPr lang="en-US" altLang="zh-CN"/>
              <a:t>mmseqs2_uniref_env</a:t>
            </a:r>
            <a:endParaRPr lang="en-US" altLang="zh-CN"/>
          </a:p>
          <a:p>
            <a:r>
              <a:rPr lang="en-US" altLang="zh-CN"/>
              <a:t>pair_mode</a:t>
            </a:r>
            <a:endParaRPr lang="en-US" altLang="zh-CN"/>
          </a:p>
          <a:p>
            <a:r>
              <a:rPr lang="en-US" altLang="zh-CN"/>
              <a:t>unpaired_paired</a:t>
            </a:r>
            <a:endParaRPr lang="en-US" altLang="zh-CN"/>
          </a:p>
          <a:p>
            <a:r>
              <a:rPr lang="en-US" altLang="zh-CN"/>
              <a:t>"unpaired_paired" = pair sequences from same species + unpaired MSA, "unpaired" = seperate MSA for each chain, "paired" - only use paired sequences.</a:t>
            </a:r>
            <a:endParaRPr lang="en-US" altLang="zh-CN"/>
          </a:p>
          <a:p>
            <a:endParaRPr lang="en-US" altLang="zh-CN"/>
          </a:p>
          <a:p>
            <a:r>
              <a:rPr lang="en-US" altLang="zh-CN"/>
              <a:t>[6]</a:t>
            </a:r>
            <a:endParaRPr lang="en-US" altLang="zh-CN"/>
          </a:p>
          <a:p>
            <a:r>
              <a:rPr lang="en-US" altLang="zh-CN"/>
              <a:t>0 </a:t>
            </a:r>
            <a:r>
              <a:rPr lang="zh-CN" altLang="en-US"/>
              <a:t>秒</a:t>
            </a:r>
            <a:endParaRPr lang="zh-CN" altLang="en-US"/>
          </a:p>
          <a:p>
            <a:r>
              <a:rPr lang="en-US" altLang="zh-CN"/>
              <a:t>Advanced settings</a:t>
            </a:r>
            <a:endParaRPr lang="en-US" altLang="zh-CN"/>
          </a:p>
          <a:p>
            <a:r>
              <a:rPr lang="en-US" altLang="zh-CN"/>
              <a:t>model_type</a:t>
            </a:r>
            <a:endParaRPr lang="en-US" altLang="zh-CN"/>
          </a:p>
          <a:p>
            <a:r>
              <a:rPr lang="en-US" altLang="zh-CN"/>
              <a:t>auto</a:t>
            </a:r>
            <a:endParaRPr lang="en-US" altLang="zh-CN"/>
          </a:p>
          <a:p>
            <a:r>
              <a:rPr lang="en-US" altLang="zh-CN"/>
              <a:t>if auto selected, will use alphafold2_ptm for monomer prediction and alphafold2_multimer_v3 for complex prediction. Any of the mode_types can be used (regardless if input is monomer or complex).</a:t>
            </a:r>
            <a:endParaRPr lang="en-US" altLang="zh-CN"/>
          </a:p>
          <a:p>
            <a:r>
              <a:rPr lang="en-US" altLang="zh-CN"/>
              <a:t>num_recycles</a:t>
            </a:r>
            <a:endParaRPr lang="en-US" altLang="zh-CN"/>
          </a:p>
          <a:p>
            <a:r>
              <a:rPr lang="en-US" altLang="zh-CN"/>
              <a:t>3</a:t>
            </a:r>
            <a:endParaRPr lang="en-US" altLang="zh-CN"/>
          </a:p>
          <a:p>
            <a:r>
              <a:rPr lang="en-US" altLang="zh-CN"/>
              <a:t>if auto selected, will use num_recycles=20 if model_type=alphafold2_multimer_v3, else num_recycles=3 .</a:t>
            </a:r>
            <a:endParaRPr lang="en-US" altLang="zh-CN"/>
          </a:p>
          <a:p>
            <a:r>
              <a:rPr lang="en-US" altLang="zh-CN"/>
              <a:t>recycle_early_stop_tolerance</a:t>
            </a:r>
            <a:endParaRPr lang="en-US" altLang="zh-CN"/>
          </a:p>
          <a:p>
            <a:r>
              <a:rPr lang="en-US" altLang="zh-CN"/>
              <a:t>auto</a:t>
            </a:r>
            <a:endParaRPr lang="en-US" altLang="zh-CN"/>
          </a:p>
          <a:p>
            <a:r>
              <a:rPr lang="en-US" altLang="zh-CN"/>
              <a:t>if auto selected, will use tol=0.5 if model_type=alphafold2_multimer_v3 else tol=0.0.</a:t>
            </a:r>
            <a:endParaRPr lang="en-US" altLang="zh-CN"/>
          </a:p>
          <a:p>
            <a:r>
              <a:rPr lang="en-US" altLang="zh-CN"/>
              <a:t>relax_max_iterations</a:t>
            </a:r>
            <a:endParaRPr lang="en-US" altLang="zh-CN"/>
          </a:p>
          <a:p>
            <a:r>
              <a:rPr lang="en-US" altLang="zh-CN"/>
              <a:t>200</a:t>
            </a:r>
            <a:endParaRPr lang="en-US" altLang="zh-CN"/>
          </a:p>
          <a:p>
            <a:r>
              <a:rPr lang="en-US" altLang="zh-CN"/>
              <a:t>max amber relax iterations, 0 = unlimited (AlphaFold2 default, can take very long)</a:t>
            </a:r>
            <a:endParaRPr lang="en-US" altLang="zh-CN"/>
          </a:p>
          <a:p>
            <a:r>
              <a:rPr lang="en-US" altLang="zh-CN"/>
              <a:t>pairing_strategy</a:t>
            </a:r>
            <a:endParaRPr lang="en-US" altLang="zh-CN"/>
          </a:p>
          <a:p>
            <a:r>
              <a:rPr lang="en-US" altLang="zh-CN"/>
              <a:t>greedy</a:t>
            </a:r>
            <a:endParaRPr lang="en-US" altLang="zh-CN"/>
          </a:p>
          <a:p>
            <a:r>
              <a:rPr lang="en-US" altLang="zh-CN"/>
              <a:t>greedy = pair any taxonomically matching subsets, complete = all sequences have to match in one line.</a:t>
            </a:r>
            <a:endParaRPr lang="en-US" altLang="zh-CN"/>
          </a:p>
          <a:p>
            <a:endParaRPr lang="en-US" altLang="zh-CN"/>
          </a:p>
          <a:p>
            <a:r>
              <a:rPr lang="en-US" altLang="zh-CN"/>
              <a:t>calc_extra_ptm</a:t>
            </a:r>
            <a:endParaRPr lang="en-US" altLang="zh-CN"/>
          </a:p>
          <a:p>
            <a:r>
              <a:rPr lang="en-US" altLang="zh-CN"/>
              <a:t>return pairwise chain iptm/actifptm</a:t>
            </a:r>
            <a:endParaRPr lang="en-US" altLang="zh-CN"/>
          </a:p>
          <a:p>
            <a:r>
              <a:rPr lang="en-US" altLang="zh-CN"/>
              <a:t>Sample settings</a:t>
            </a:r>
            <a:endParaRPr lang="en-US" altLang="zh-CN"/>
          </a:p>
          <a:p>
            <a:r>
              <a:rPr lang="en-US" altLang="zh-CN"/>
              <a:t>enable dropouts and increase number of seeds to sample predictions from uncertainty of the model.</a:t>
            </a:r>
            <a:endParaRPr lang="en-US" altLang="zh-CN"/>
          </a:p>
          <a:p>
            <a:r>
              <a:rPr lang="en-US" altLang="zh-CN"/>
              <a:t>decrease max_msa to increase uncertainity</a:t>
            </a:r>
            <a:endParaRPr lang="en-US" altLang="zh-CN"/>
          </a:p>
          <a:p>
            <a:r>
              <a:rPr lang="en-US" altLang="zh-CN"/>
              <a:t>max_msa</a:t>
            </a:r>
            <a:endParaRPr lang="en-US" altLang="zh-CN"/>
          </a:p>
          <a:p>
            <a:r>
              <a:rPr lang="en-US" altLang="zh-CN"/>
              <a:t>auto</a:t>
            </a:r>
            <a:endParaRPr lang="en-US" altLang="zh-CN"/>
          </a:p>
          <a:p>
            <a:r>
              <a:rPr lang="en-US" altLang="zh-CN"/>
              <a:t>num_seeds</a:t>
            </a:r>
            <a:endParaRPr lang="en-US" altLang="zh-CN"/>
          </a:p>
          <a:p>
            <a:r>
              <a:rPr lang="en-US" altLang="zh-CN"/>
              <a:t>1</a:t>
            </a:r>
            <a:endParaRPr lang="en-US" altLang="zh-CN"/>
          </a:p>
          <a:p>
            <a:endParaRPr lang="en-US" altLang="zh-CN"/>
          </a:p>
          <a:p>
            <a:r>
              <a:rPr lang="en-US" altLang="zh-CN"/>
              <a:t>use_dropout</a:t>
            </a:r>
            <a:endParaRPr lang="en-US" altLang="zh-CN"/>
          </a:p>
          <a:p>
            <a:r>
              <a:rPr lang="en-US" altLang="zh-CN"/>
              <a:t>Save settings</a:t>
            </a:r>
            <a:endParaRPr lang="en-US" altLang="zh-CN"/>
          </a:p>
          <a:p>
            <a:endParaRPr lang="en-US" altLang="zh-CN"/>
          </a:p>
          <a:p>
            <a:r>
              <a:rPr lang="en-US" altLang="zh-CN"/>
              <a:t>save_all</a:t>
            </a:r>
            <a:endParaRPr lang="en-US" altLang="zh-CN"/>
          </a:p>
          <a:p>
            <a:endParaRPr lang="en-US" altLang="zh-CN"/>
          </a:p>
          <a:p>
            <a:r>
              <a:rPr lang="en-US" altLang="zh-CN"/>
              <a:t>save_recycles</a:t>
            </a:r>
            <a:endParaRPr lang="en-US" altLang="zh-CN"/>
          </a:p>
          <a:p>
            <a:endParaRPr lang="en-US" altLang="zh-CN"/>
          </a:p>
          <a:p>
            <a:r>
              <a:rPr lang="en-US" altLang="zh-CN"/>
              <a:t>save_to_google_drive</a:t>
            </a:r>
            <a:endParaRPr lang="en-US" altLang="zh-CN"/>
          </a:p>
          <a:p>
            <a:r>
              <a:rPr lang="en-US" altLang="zh-CN"/>
              <a:t>if the save_to_google_drive option was selected, the result zip will be uploaded to your Google Drive</a:t>
            </a:r>
            <a:endParaRPr lang="en-US" altLang="zh-CN"/>
          </a:p>
          <a:p>
            <a:r>
              <a:rPr lang="en-US" altLang="zh-CN"/>
              <a:t>dpi</a:t>
            </a:r>
            <a:endParaRPr lang="en-US" altLang="zh-CN"/>
          </a:p>
          <a:p>
            <a:r>
              <a:rPr lang="en-US" altLang="zh-CN"/>
              <a:t>200</a:t>
            </a:r>
            <a:endParaRPr lang="en-US" altLang="zh-CN"/>
          </a:p>
          <a:p>
            <a:r>
              <a:rPr lang="en-US" altLang="zh-CN"/>
              <a:t>set dpi for image resolution</a:t>
            </a:r>
            <a:endParaRPr lang="en-US" altLang="zh-CN"/>
          </a:p>
          <a:p>
            <a:r>
              <a:rPr lang="en-US" altLang="zh-CN"/>
              <a:t>Don't forget to hit Runtime -&gt; Run all after updating the form.</a:t>
            </a:r>
            <a:endParaRPr lang="en-US" altLang="zh-CN"/>
          </a:p>
          <a:p>
            <a:endParaRPr lang="en-US" altLang="zh-CN"/>
          </a:p>
          <a:p>
            <a:r>
              <a:rPr lang="en-US" altLang="zh-CN"/>
              <a:t>Run Prediction</a:t>
            </a:r>
            <a:endParaRPr lang="en-US" altLang="zh-CN"/>
          </a:p>
          <a:p>
            <a:endParaRPr lang="en-US" altLang="zh-CN"/>
          </a:p>
          <a:p>
            <a:r>
              <a:rPr lang="en-US" altLang="zh-CN"/>
              <a:t>[7]</a:t>
            </a:r>
            <a:endParaRPr lang="en-US" altLang="zh-CN"/>
          </a:p>
          <a:p>
            <a:r>
              <a:rPr lang="en-US" altLang="zh-CN"/>
              <a:t>12 </a:t>
            </a:r>
            <a:r>
              <a:rPr lang="zh-CN" altLang="en-US"/>
              <a:t>分钟</a:t>
            </a:r>
            <a:endParaRPr lang="zh-CN" altLang="en-US"/>
          </a:p>
          <a:p>
            <a:endParaRPr lang="en-US" altLang="zh-CN"/>
          </a:p>
          <a:p>
            <a:r>
              <a:rPr lang="en-US" altLang="zh-CN"/>
              <a:t>display_images</a:t>
            </a:r>
            <a:endParaRPr lang="en-US" altLang="zh-CN"/>
          </a:p>
          <a:p>
            <a:endParaRPr lang="en-US" altLang="zh-CN"/>
          </a:p>
          <a:p>
            <a:r>
              <a:rPr lang="en-US" altLang="zh-CN"/>
              <a:t>Display 3D structure</a:t>
            </a:r>
            <a:endParaRPr lang="en-US" altLang="zh-CN"/>
          </a:p>
          <a:p>
            <a:endParaRPr lang="en-US" altLang="zh-CN"/>
          </a:p>
          <a:p>
            <a:r>
              <a:rPr lang="en-US" altLang="zh-CN"/>
              <a:t>[ ]</a:t>
            </a:r>
            <a:endParaRPr lang="en-US" altLang="zh-CN"/>
          </a:p>
          <a:p>
            <a:r>
              <a:rPr lang="en-US" altLang="zh-CN"/>
              <a:t>5 </a:t>
            </a:r>
            <a:r>
              <a:rPr lang="zh-CN" altLang="en-US"/>
              <a:t>分钟</a:t>
            </a:r>
            <a:endParaRPr lang="zh-CN" altLang="en-US"/>
          </a:p>
          <a:p>
            <a:r>
              <a:rPr lang="en-US" altLang="zh-CN"/>
              <a:t>rank_num</a:t>
            </a:r>
            <a:endParaRPr lang="en-US" altLang="zh-CN"/>
          </a:p>
          <a:p>
            <a:r>
              <a:rPr lang="en-US" altLang="zh-CN"/>
              <a:t>1</a:t>
            </a:r>
            <a:endParaRPr lang="en-US" altLang="zh-CN"/>
          </a:p>
          <a:p>
            <a:r>
              <a:rPr lang="en-US" altLang="zh-CN"/>
              <a:t>color</a:t>
            </a:r>
            <a:endParaRPr lang="en-US" altLang="zh-CN"/>
          </a:p>
          <a:p>
            <a:r>
              <a:rPr lang="en-US" altLang="zh-CN"/>
              <a:t>lDDT</a:t>
            </a:r>
            <a:endParaRPr lang="en-US" altLang="zh-CN"/>
          </a:p>
          <a:p>
            <a:endParaRPr lang="en-US" altLang="zh-CN"/>
          </a:p>
          <a:p>
            <a:r>
              <a:rPr lang="en-US" altLang="zh-CN"/>
              <a:t>show_sidechains</a:t>
            </a:r>
            <a:endParaRPr lang="en-US" altLang="zh-CN"/>
          </a:p>
          <a:p>
            <a:endParaRPr lang="en-US" altLang="zh-CN"/>
          </a:p>
          <a:p>
            <a:r>
              <a:rPr lang="en-US" altLang="zh-CN"/>
              <a:t>show_mainchains</a:t>
            </a:r>
            <a:endParaRPr lang="en-US" altLang="zh-CN"/>
          </a:p>
          <a:p>
            <a:r>
              <a:rPr lang="en-US" altLang="zh-CN"/>
              <a:t>Plots</a:t>
            </a:r>
            <a:endParaRPr lang="en-US" altLang="zh-CN"/>
          </a:p>
          <a:p>
            <a:endParaRPr lang="en-US" altLang="zh-CN"/>
          </a:p>
          <a:p>
            <a:r>
              <a:rPr lang="en-US" altLang="zh-CN"/>
              <a:t>[ ]</a:t>
            </a:r>
            <a:endParaRPr lang="en-US" altLang="zh-CN"/>
          </a:p>
          <a:p>
            <a:r>
              <a:rPr lang="en-US" altLang="zh-CN"/>
              <a:t>Package and download results</a:t>
            </a:r>
            <a:endParaRPr lang="en-US" altLang="zh-CN"/>
          </a:p>
          <a:p>
            <a:endParaRPr lang="en-US" altLang="zh-CN"/>
          </a:p>
          <a:p>
            <a:r>
              <a:rPr lang="en-US" altLang="zh-CN"/>
              <a:t>[ ]</a:t>
            </a:r>
            <a:endParaRPr lang="en-US" altLang="zh-CN"/>
          </a:p>
          <a:p>
            <a:r>
              <a:rPr lang="en-US" altLang="zh-CN"/>
              <a:t>If you are having issues downloading the result archive, try disabling your adblocker and run this cell again. If that fails click on the little folder icon to the left, navigate to file: jobname.result.zip, right-click and select "Download" (see screenshot).</a:t>
            </a:r>
            <a:endParaRPr lang="en-US" altLang="zh-CN"/>
          </a:p>
          <a:p>
            <a:endParaRPr lang="en-US" altLang="zh-CN"/>
          </a:p>
          <a:p>
            <a:r>
              <a:rPr lang="en-US" altLang="zh-CN"/>
              <a:t>Instructions</a:t>
            </a:r>
            <a:endParaRPr lang="en-US" altLang="zh-CN"/>
          </a:p>
          <a:p>
            <a:r>
              <a:rPr lang="en-US" altLang="zh-CN"/>
              <a:t>For detailed instructions, tips and tricks, see recently published paper at Nature Protocols</a:t>
            </a:r>
            <a:endParaRPr lang="en-US" altLang="zh-CN"/>
          </a:p>
          <a:p>
            <a:endParaRPr lang="en-US" altLang="zh-CN"/>
          </a:p>
          <a:p>
            <a:r>
              <a:rPr lang="en-US" altLang="zh-CN"/>
              <a:t>Quick start</a:t>
            </a:r>
            <a:endParaRPr lang="en-US" altLang="zh-CN"/>
          </a:p>
          <a:p>
            <a:endParaRPr lang="en-US" altLang="zh-CN"/>
          </a:p>
          <a:p>
            <a:r>
              <a:rPr lang="en-US" altLang="zh-CN"/>
              <a:t>Paste your protein sequence(s) in the input field.</a:t>
            </a:r>
            <a:endParaRPr lang="en-US" altLang="zh-CN"/>
          </a:p>
          <a:p>
            <a:r>
              <a:rPr lang="en-US" altLang="zh-CN"/>
              <a:t>Press "Runtime" -&gt; "Run all".</a:t>
            </a:r>
            <a:endParaRPr lang="en-US" altLang="zh-CN"/>
          </a:p>
          <a:p>
            <a:r>
              <a:rPr lang="en-US" altLang="zh-CN"/>
              <a:t>The pipeline consists of 5 steps. The currently running step is indicated by a circle with a stop sign next to it.</a:t>
            </a:r>
            <a:endParaRPr lang="en-US" altLang="zh-CN"/>
          </a:p>
          <a:p>
            <a:r>
              <a:rPr lang="en-US" altLang="zh-CN"/>
              <a:t>Result zip file contents</a:t>
            </a:r>
            <a:endParaRPr lang="en-US" altLang="zh-CN"/>
          </a:p>
          <a:p>
            <a:endParaRPr lang="en-US" altLang="zh-CN"/>
          </a:p>
          <a:p>
            <a:r>
              <a:rPr lang="en-US" altLang="zh-CN"/>
              <a:t>PDB formatted structures sorted by avg. pLDDT and complexes are sorted by pTMscore. (unrelaxed and relaxed if use_amber is enabled).</a:t>
            </a:r>
            <a:endParaRPr lang="en-US" altLang="zh-CN"/>
          </a:p>
          <a:p>
            <a:r>
              <a:rPr lang="en-US" altLang="zh-CN"/>
              <a:t>Plots of the model quality.</a:t>
            </a:r>
            <a:endParaRPr lang="en-US" altLang="zh-CN"/>
          </a:p>
          <a:p>
            <a:r>
              <a:rPr lang="en-US" altLang="zh-CN"/>
              <a:t>Plots of the MSA coverage.</a:t>
            </a:r>
            <a:endParaRPr lang="en-US" altLang="zh-CN"/>
          </a:p>
          <a:p>
            <a:r>
              <a:rPr lang="en-US" altLang="zh-CN"/>
              <a:t>Parameter log file.</a:t>
            </a:r>
            <a:endParaRPr lang="en-US" altLang="zh-CN"/>
          </a:p>
          <a:p>
            <a:r>
              <a:rPr lang="en-US" altLang="zh-CN"/>
              <a:t>A3M formatted input MSA.</a:t>
            </a:r>
            <a:endParaRPr lang="en-US" altLang="zh-CN"/>
          </a:p>
          <a:p>
            <a:r>
              <a:rPr lang="en-US" altLang="zh-CN"/>
              <a:t>A predicted_aligned_error_v1.json using AlphaFold-DB's format and a scores.json for each model which contains an array (list of lists) for PAE, a list with the average pLDDT and the pTMscore.</a:t>
            </a:r>
            <a:endParaRPr lang="en-US" altLang="zh-CN"/>
          </a:p>
          <a:p>
            <a:r>
              <a:rPr lang="en-US" altLang="zh-CN"/>
              <a:t>BibTeX file with citations for all used tools and databases.</a:t>
            </a:r>
            <a:endParaRPr lang="en-US" altLang="zh-CN"/>
          </a:p>
          <a:p>
            <a:r>
              <a:rPr lang="en-US" altLang="zh-CN"/>
              <a:t>At the end of the job a download modal box will pop up with a jobname.result.zip file. Additionally, if the save_to_google_drive option was selected, the jobname.result.zip will be uploaded to your Google Drive.</a:t>
            </a:r>
            <a:endParaRPr lang="en-US" altLang="zh-CN"/>
          </a:p>
          <a:p>
            <a:endParaRPr lang="en-US" altLang="zh-CN"/>
          </a:p>
          <a:p>
            <a:r>
              <a:rPr lang="en-US" altLang="zh-CN"/>
              <a:t>MSA generation for complexes</a:t>
            </a:r>
            <a:endParaRPr lang="en-US" altLang="zh-CN"/>
          </a:p>
          <a:p>
            <a:endParaRPr lang="en-US" altLang="zh-CN"/>
          </a:p>
          <a:p>
            <a:r>
              <a:rPr lang="en-US" altLang="zh-CN"/>
              <a:t>For the complex prediction we use unpaired and paired MSAs. Unpaired MSA is generated the same way as for the protein structures prediction by searching the UniRef100 and environmental sequences three iterations each.</a:t>
            </a:r>
            <a:endParaRPr lang="en-US" altLang="zh-CN"/>
          </a:p>
          <a:p>
            <a:endParaRPr lang="en-US" altLang="zh-CN"/>
          </a:p>
          <a:p>
            <a:r>
              <a:rPr lang="en-US" altLang="zh-CN"/>
              <a:t>The paired MSA is generated by searching the UniRef100 database and pairing the best hits sharing the same NCBI taxonomic identifier (=species or sub-species). We only pair sequences if all of the query sequences are present for the respective taxonomic identifier.</a:t>
            </a:r>
            <a:endParaRPr lang="en-US" altLang="zh-CN"/>
          </a:p>
          <a:p>
            <a:endParaRPr lang="en-US" altLang="zh-CN"/>
          </a:p>
          <a:p>
            <a:r>
              <a:rPr lang="en-US" altLang="zh-CN"/>
              <a:t>Using a custom MSA as input</a:t>
            </a:r>
            <a:endParaRPr lang="en-US" altLang="zh-CN"/>
          </a:p>
          <a:p>
            <a:endParaRPr lang="en-US" altLang="zh-CN"/>
          </a:p>
          <a:p>
            <a:r>
              <a:rPr lang="en-US" altLang="zh-CN"/>
              <a:t>To predict the structure with a custom MSA (A3M formatted): (1) Change the msa_mode: to "custom", (2) Wait for an upload box to appear at the end of the "MSA options ..." box. Upload your A3M. The first fasta entry of the A3M must be the query sequence without gaps.</a:t>
            </a:r>
            <a:endParaRPr lang="en-US" altLang="zh-CN"/>
          </a:p>
          <a:p>
            <a:endParaRPr lang="en-US" altLang="zh-CN"/>
          </a:p>
          <a:p>
            <a:r>
              <a:rPr lang="en-US" altLang="zh-CN"/>
              <a:t>It is also possilbe to provide custom MSAs for complex predictions. Read more about the format here.</a:t>
            </a:r>
            <a:endParaRPr lang="en-US" altLang="zh-CN"/>
          </a:p>
          <a:p>
            <a:endParaRPr lang="en-US" altLang="zh-CN"/>
          </a:p>
          <a:p>
            <a:r>
              <a:rPr lang="en-US" altLang="zh-CN"/>
              <a:t>As an alternative for MSA generation the HHblits Toolkit server can be used. After submitting your query, click "Query Template MSA" -&gt; "Download Full A3M". Download the A3M file and upload it in this notebook.</a:t>
            </a:r>
            <a:endParaRPr lang="en-US" altLang="zh-CN"/>
          </a:p>
          <a:p>
            <a:endParaRPr lang="en-US" altLang="zh-CN"/>
          </a:p>
          <a:p>
            <a:r>
              <a:rPr lang="en-US" altLang="zh-CN"/>
              <a:t>PDB100</a:t>
            </a:r>
            <a:endParaRPr lang="en-US" altLang="zh-CN"/>
          </a:p>
          <a:p>
            <a:endParaRPr lang="en-US" altLang="zh-CN"/>
          </a:p>
          <a:p>
            <a:r>
              <a:rPr lang="en-US" altLang="zh-CN"/>
              <a:t>As of 23/06/08, we have transitioned from using the PDB70 to a 100% clustered PDB, the PDB100. The construction methodology of PDB100 differs from that of PDB70.</a:t>
            </a:r>
            <a:endParaRPr lang="en-US" altLang="zh-CN"/>
          </a:p>
          <a:p>
            <a:endParaRPr lang="en-US" altLang="zh-CN"/>
          </a:p>
          <a:p>
            <a:r>
              <a:rPr lang="en-US" altLang="zh-CN"/>
              <a:t>The PDB70 was constructed by running each PDB70 representative sequence through HHblits against the Uniclust30. On the other hand, the PDB100 is built by searching each PDB100 representative structure with Foldseek against the AlphaFold Database.</a:t>
            </a:r>
            <a:endParaRPr lang="en-US" altLang="zh-CN"/>
          </a:p>
          <a:p>
            <a:endParaRPr lang="en-US" altLang="zh-CN"/>
          </a:p>
          <a:p>
            <a:r>
              <a:rPr lang="en-US" altLang="zh-CN"/>
              <a:t>To maintain compatibility with older Notebook versions and local installations, the generated files and API responses will continue to be named "PDB70", even though we're now using the PDB100.</a:t>
            </a:r>
            <a:endParaRPr lang="en-US" altLang="zh-CN"/>
          </a:p>
          <a:p>
            <a:endParaRPr lang="en-US" altLang="zh-CN"/>
          </a:p>
          <a:p>
            <a:r>
              <a:rPr lang="en-US" altLang="zh-CN"/>
              <a:t>Using custom templates</a:t>
            </a:r>
            <a:endParaRPr lang="en-US" altLang="zh-CN"/>
          </a:p>
          <a:p>
            <a:endParaRPr lang="en-US" altLang="zh-CN"/>
          </a:p>
          <a:p>
            <a:r>
              <a:rPr lang="en-US" altLang="zh-CN"/>
              <a:t>To predict the structure with a custom template (PDB or mmCIF formatted): (1) change the template_mode to "custom" in the execute cell and (2) wait for an upload box to appear at the end of the "Input Protein" box. Select and upload your templates (multiple choices are possible).</a:t>
            </a:r>
            <a:endParaRPr lang="en-US" altLang="zh-CN"/>
          </a:p>
          <a:p>
            <a:endParaRPr lang="en-US" altLang="zh-CN"/>
          </a:p>
          <a:p>
            <a:r>
              <a:rPr lang="en-US" altLang="zh-CN"/>
              <a:t>Templates must follow the four letter PDB naming with lower case letters.</a:t>
            </a:r>
            <a:endParaRPr lang="en-US" altLang="zh-CN"/>
          </a:p>
          <a:p>
            <a:endParaRPr lang="en-US" altLang="zh-CN"/>
          </a:p>
          <a:p>
            <a:r>
              <a:rPr lang="en-US" altLang="zh-CN"/>
              <a:t>Templates in mmCIF format must contain _entity_poly_seq. An error is thrown if this field is not present. The field _pdbx_audit_revision_history.revision_date is automatically generated if it is not present.</a:t>
            </a:r>
            <a:endParaRPr lang="en-US" altLang="zh-CN"/>
          </a:p>
          <a:p>
            <a:endParaRPr lang="en-US" altLang="zh-CN"/>
          </a:p>
          <a:p>
            <a:r>
              <a:rPr lang="en-US" altLang="zh-CN"/>
              <a:t>Templates in PDB format are automatically converted to the mmCIF format. _entity_poly_seq and _pdbx_audit_revision_history.revision_date are automatically generated.</a:t>
            </a:r>
            <a:endParaRPr lang="en-US" altLang="zh-CN"/>
          </a:p>
          <a:p>
            <a:endParaRPr lang="en-US" altLang="zh-CN"/>
          </a:p>
          <a:p>
            <a:r>
              <a:rPr lang="en-US" altLang="zh-CN"/>
              <a:t>If you encounter problems, please report them to this issue.</a:t>
            </a:r>
            <a:endParaRPr lang="en-US" altLang="zh-CN"/>
          </a:p>
          <a:p>
            <a:endParaRPr lang="en-US" altLang="zh-CN"/>
          </a:p>
          <a:p>
            <a:r>
              <a:rPr lang="en-US" altLang="zh-CN"/>
              <a:t>Comparison to the full AlphaFold2 and AlphaFold2 Colab</a:t>
            </a:r>
            <a:endParaRPr lang="en-US" altLang="zh-CN"/>
          </a:p>
          <a:p>
            <a:endParaRPr lang="en-US" altLang="zh-CN"/>
          </a:p>
          <a:p>
            <a:r>
              <a:rPr lang="en-US" altLang="zh-CN"/>
              <a:t>This notebook replaces the homology detection and MSA pairing of AlphaFold2 with MMseqs2. For a comparison against the AlphaFold2 Colab and the full AlphaFold2 system read our paper.</a:t>
            </a:r>
            <a:endParaRPr lang="en-US" altLang="zh-CN"/>
          </a:p>
          <a:p>
            <a:endParaRPr lang="en-US" altLang="zh-CN"/>
          </a:p>
          <a:p>
            <a:r>
              <a:rPr lang="en-US" altLang="zh-CN"/>
              <a:t>Troubleshooting</a:t>
            </a:r>
            <a:endParaRPr lang="en-US" altLang="zh-CN"/>
          </a:p>
          <a:p>
            <a:endParaRPr lang="en-US" altLang="zh-CN"/>
          </a:p>
          <a:p>
            <a:r>
              <a:rPr lang="en-US" altLang="zh-CN"/>
              <a:t>Check that the runtime type is set to GPU at "Runtime" -&gt; "Change runtime type".</a:t>
            </a:r>
            <a:endParaRPr lang="en-US" altLang="zh-CN"/>
          </a:p>
          <a:p>
            <a:r>
              <a:rPr lang="en-US" altLang="zh-CN"/>
              <a:t>Try to restart the session "Runtime" -&gt; "Factory reset runtime".</a:t>
            </a:r>
            <a:endParaRPr lang="en-US" altLang="zh-CN"/>
          </a:p>
          <a:p>
            <a:r>
              <a:rPr lang="en-US" altLang="zh-CN"/>
              <a:t>Check your input sequence.</a:t>
            </a:r>
            <a:endParaRPr lang="en-US" altLang="zh-CN"/>
          </a:p>
          <a:p>
            <a:r>
              <a:rPr lang="en-US" altLang="zh-CN"/>
              <a:t>Known issues</a:t>
            </a:r>
            <a:endParaRPr lang="en-US" altLang="zh-CN"/>
          </a:p>
          <a:p>
            <a:endParaRPr lang="en-US" altLang="zh-CN"/>
          </a:p>
          <a:p>
            <a:r>
              <a:rPr lang="en-US" altLang="zh-CN"/>
              <a:t>Google Colab assigns different types of GPUs with varying amount of memory. Some might not have enough memory to predict the structure for a long sequence.</a:t>
            </a:r>
            <a:endParaRPr lang="en-US" altLang="zh-CN"/>
          </a:p>
          <a:p>
            <a:r>
              <a:rPr lang="en-US" altLang="zh-CN"/>
              <a:t>Your browser can block the pop-up for downloading the result file. You can choose the save_to_google_drive option to upload to Google Drive instead or manually download the result file: Click on the little folder icon to the left, navigate to file: jobname.result.zip, right-click and select "Download" (see screenshot).</a:t>
            </a:r>
            <a:endParaRPr lang="en-US" altLang="zh-CN"/>
          </a:p>
          <a:p>
            <a:r>
              <a:rPr lang="en-US" altLang="zh-CN"/>
              <a:t>Limitations</a:t>
            </a:r>
            <a:endParaRPr lang="en-US" altLang="zh-CN"/>
          </a:p>
          <a:p>
            <a:endParaRPr lang="en-US" altLang="zh-CN"/>
          </a:p>
          <a:p>
            <a:r>
              <a:rPr lang="en-US" altLang="zh-CN"/>
              <a:t>Computing resources: Our MMseqs2 API can handle ~20-50k requests per day.</a:t>
            </a:r>
            <a:endParaRPr lang="en-US" altLang="zh-CN"/>
          </a:p>
          <a:p>
            <a:r>
              <a:rPr lang="en-US" altLang="zh-CN"/>
              <a:t>MSAs: MMseqs2 is very precise and sensitive but might find less hits compared to HHblits/HMMer searched against BFD or MGnify.</a:t>
            </a:r>
            <a:endParaRPr lang="en-US" altLang="zh-CN"/>
          </a:p>
          <a:p>
            <a:r>
              <a:rPr lang="en-US" altLang="zh-CN"/>
              <a:t>We recommend to additionally use the full AlphaFold2 pipeline.</a:t>
            </a:r>
            <a:endParaRPr lang="en-US" altLang="zh-CN"/>
          </a:p>
          <a:p>
            <a:r>
              <a:rPr lang="en-US" altLang="zh-CN"/>
              <a:t>Description of the plots</a:t>
            </a:r>
            <a:endParaRPr lang="en-US" altLang="zh-CN"/>
          </a:p>
          <a:p>
            <a:endParaRPr lang="en-US" altLang="zh-CN"/>
          </a:p>
          <a:p>
            <a:r>
              <a:rPr lang="en-US" altLang="zh-CN"/>
              <a:t>Number of sequences per position - We want to see at least 30 sequences per position, for best performance, ideally 100 sequences.</a:t>
            </a:r>
            <a:endParaRPr lang="en-US" altLang="zh-CN"/>
          </a:p>
          <a:p>
            <a:r>
              <a:rPr lang="en-US" altLang="zh-CN"/>
              <a:t>Predicted lDDT per position - model confidence (out of 100) at each position. The higher the better.</a:t>
            </a:r>
            <a:endParaRPr lang="en-US" altLang="zh-CN"/>
          </a:p>
          <a:p>
            <a:r>
              <a:rPr lang="en-US" altLang="zh-CN"/>
              <a:t>Predicted Alignment Error - For homooligomers, this could be a useful metric to assess how confident the model is about the interface. The lower the better.</a:t>
            </a:r>
            <a:endParaRPr lang="en-US" altLang="zh-CN"/>
          </a:p>
          <a:p>
            <a:r>
              <a:rPr lang="en-US" altLang="zh-CN"/>
              <a:t>Bugs</a:t>
            </a:r>
            <a:endParaRPr lang="en-US" altLang="zh-CN"/>
          </a:p>
          <a:p>
            <a:endParaRPr lang="en-US" altLang="zh-CN"/>
          </a:p>
          <a:p>
            <a:r>
              <a:rPr lang="en-US" altLang="zh-CN"/>
              <a:t>If you encounter any bugs, please report the issue to https://github.com/sokrypton/ColabFold/issues</a:t>
            </a:r>
            <a:endParaRPr lang="en-US" altLang="zh-CN"/>
          </a:p>
          <a:p>
            <a:r>
              <a:rPr lang="en-US" altLang="zh-CN"/>
              <a:t>License</a:t>
            </a:r>
            <a:endParaRPr lang="en-US" altLang="zh-CN"/>
          </a:p>
          <a:p>
            <a:endParaRPr lang="en-US" altLang="zh-CN"/>
          </a:p>
          <a:p>
            <a:r>
              <a:rPr lang="en-US" altLang="zh-CN"/>
              <a:t>The source code of ColabFold is licensed under MIT. Additionally, this notebook uses the AlphaFold2 source code and its parameters licensed under Apache 2.0 and CC BY 4.0 respectively. Read more about the AlphaFold license here.</a:t>
            </a:r>
            <a:endParaRPr lang="en-US" altLang="zh-CN"/>
          </a:p>
          <a:p>
            <a:endParaRPr lang="en-US" altLang="zh-CN"/>
          </a:p>
          <a:p>
            <a:r>
              <a:rPr lang="en-US" altLang="zh-CN"/>
              <a:t>Acknowledgments</a:t>
            </a:r>
            <a:endParaRPr lang="en-US" altLang="zh-CN"/>
          </a:p>
          <a:p>
            <a:endParaRPr lang="en-US" altLang="zh-CN"/>
          </a:p>
          <a:p>
            <a:r>
              <a:rPr lang="en-US" altLang="zh-CN"/>
              <a:t>We thank the AlphaFold team for developing an excellent model and open sourcing the software.</a:t>
            </a:r>
            <a:endParaRPr lang="en-US" altLang="zh-CN"/>
          </a:p>
          <a:p>
            <a:endParaRPr lang="en-US" altLang="zh-CN"/>
          </a:p>
          <a:p>
            <a:r>
              <a:rPr lang="en-US" altLang="zh-CN"/>
              <a:t>KOBIC and S</a:t>
            </a:r>
            <a:r>
              <a:rPr lang="en-US" altLang="en-US"/>
              <a:t>ö</a:t>
            </a:r>
            <a:r>
              <a:rPr lang="en-US" altLang="zh-CN"/>
              <a:t>ding Lab for providing the computational resources for the MMseqs2 MSA server.</a:t>
            </a:r>
            <a:endParaRPr lang="en-US" altLang="zh-CN"/>
          </a:p>
          <a:p>
            <a:endParaRPr lang="en-US" altLang="zh-CN"/>
          </a:p>
          <a:p>
            <a:r>
              <a:rPr lang="en-US" altLang="zh-CN"/>
              <a:t>Richard Evans for helping to benchmark the ColabFold's Alphafold-multimer support.</a:t>
            </a:r>
            <a:endParaRPr lang="en-US" altLang="zh-CN"/>
          </a:p>
          <a:p>
            <a:endParaRPr lang="en-US" altLang="zh-CN"/>
          </a:p>
          <a:p>
            <a:r>
              <a:rPr lang="en-US" altLang="zh-CN"/>
              <a:t>David Koes for his awesome py3Dmol plugin, without whom these notebooks would be quite boring!</a:t>
            </a:r>
            <a:endParaRPr lang="en-US" altLang="zh-CN"/>
          </a:p>
          <a:p>
            <a:endParaRPr lang="en-US" altLang="zh-CN"/>
          </a:p>
          <a:p>
            <a:r>
              <a:rPr lang="en-US" altLang="zh-CN"/>
              <a:t>Do-Yoon Kim for creating the ColabFold logo.</a:t>
            </a:r>
            <a:endParaRPr lang="en-US" altLang="zh-CN"/>
          </a:p>
          <a:p>
            <a:endParaRPr lang="en-US" altLang="zh-CN"/>
          </a:p>
          <a:p>
            <a:r>
              <a:rPr lang="en-US" altLang="zh-CN"/>
              <a:t>A colab by Sergey Ovchinnikov (@sokrypton), Milot Mirdita (@milot_mirdita) and Martin Steinegger (@thesteinegger).</a:t>
            </a:r>
            <a:endParaRPr lang="en-US" altLang="zh-CN"/>
          </a:p>
          <a:p>
            <a:endParaRPr lang="en-US" altLang="zh-CN"/>
          </a:p>
          <a:p>
            <a:r>
              <a:rPr lang="en-US" altLang="zh-CN"/>
              <a:t>Colab </a:t>
            </a:r>
            <a:r>
              <a:rPr lang="zh-CN" altLang="en-US"/>
              <a:t>付费产品</a:t>
            </a:r>
            <a:r>
              <a:rPr lang="en-US" altLang="zh-CN"/>
              <a:t> - </a:t>
            </a:r>
            <a:r>
              <a:rPr lang="zh-CN" altLang="en-US"/>
              <a:t>在此处取消合同</a:t>
            </a:r>
            <a:endParaRPr lang="zh-CN" altLang="en-US"/>
          </a:p>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2026-03-26 15:36:02,446 alphafold2_multimer_v1_model_2_seed_000 recycle=0 pLDDT=86.1 pTM=0.576 ipTM=0.125</a:t>
            </a:r>
            <a:endParaRPr lang="en-US" altLang="zh-CN"/>
          </a:p>
          <a:p>
            <a:r>
              <a:rPr lang="en-US" altLang="zh-CN"/>
              <a:t>2026-03-26 15:36:11,501 alphafold2_multimer_v1_model_2_seed_000 recycle=1 pLDDT=85.6 pTM=0.592 ipTM=0.161 tol=2.55</a:t>
            </a:r>
            <a:endParaRPr lang="en-US" altLang="zh-CN"/>
          </a:p>
          <a:p>
            <a:r>
              <a:rPr lang="en-US" altLang="zh-CN"/>
              <a:t>2026-03-26 15:36:20,383 alphafold2_multimer_v1_model_2_seed_000 recycle=2 pLDDT=87 pTM=0.594 ipTM=0.158 tol=1.3</a:t>
            </a:r>
            <a:endParaRPr lang="en-US" altLang="zh-CN"/>
          </a:p>
          <a:p>
            <a:r>
              <a:rPr lang="en-US" altLang="zh-CN"/>
              <a:t>2026-03-26 15:36:29,196 alphafold2_multimer_v1_model_2_seed_000 recycle=3 pLDDT=89 pTM=0.6 ipTM=0.17 tol=4.23</a:t>
            </a:r>
            <a:endParaRPr lang="en-US" altLang="zh-CN"/>
          </a:p>
          <a:p>
            <a:r>
              <a:rPr lang="en-US" altLang="zh-CN"/>
              <a:t>2026-03-26 15:36:29,197 alphafold2_multimer_v1_model_2_seed_000 took 36.0s (3 recycles)</a:t>
            </a:r>
            <a:endParaRPr lang="en-US" altLang="zh-CN"/>
          </a:p>
          <a:p>
            <a:endParaRPr lang="en-US" altLang="zh-CN"/>
          </a:p>
          <a:p>
            <a:endParaRPr lang="en-US" altLang="zh-CN"/>
          </a:p>
          <a:p>
            <a:r>
              <a:rPr lang="en-US" altLang="zh-CN"/>
              <a:t>2026-03-26 15:36:38,136 alphafold2_multimer_v1_model_3_seed_000 recycle=0 pLDDT=83.8 pTM=0.619 ipTM=0.228</a:t>
            </a:r>
            <a:endParaRPr lang="en-US" altLang="zh-CN"/>
          </a:p>
          <a:p>
            <a:r>
              <a:rPr lang="en-US" altLang="zh-CN"/>
              <a:t>2026-03-26 15:36:47,013 alphafold2_multimer_v1_model_3_seed_000 recycle=1 pLDDT=81.4 pTM=0.595 ipTM=0.171 tol=2.53</a:t>
            </a:r>
            <a:endParaRPr lang="en-US" altLang="zh-CN"/>
          </a:p>
          <a:p>
            <a:r>
              <a:rPr lang="en-US" altLang="zh-CN"/>
              <a:t>2026-03-26 15:36:55,899 alphafold2_multimer_v1_model_3_seed_000 recycle=2 pLDDT=80.9 pTM=0.602 ipTM=0.186 tol=1.43</a:t>
            </a:r>
            <a:endParaRPr lang="en-US" altLang="zh-CN"/>
          </a:p>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2026-03-26 15:43:58,726 alphafold2_multimer_v1_model_2_seed_000 recycle=0 pLDDT=78.5 pTM=0.583 ipTM=0.148</a:t>
            </a:r>
            <a:endParaRPr lang="en-US" altLang="zh-CN"/>
          </a:p>
          <a:p>
            <a:r>
              <a:rPr lang="en-US" altLang="zh-CN"/>
              <a:t>2026-03-26 15:44:07,820 alphafold2_multimer_v1_model_2_seed_000 recycle=1 pLDDT=86.3 pTM=0.629 ipTM=0.242 tol=6.82</a:t>
            </a:r>
            <a:endParaRPr lang="en-US" altLang="zh-CN"/>
          </a:p>
          <a:p>
            <a:r>
              <a:rPr lang="en-US" altLang="zh-CN"/>
              <a:t>2026-03-26 15:44:16,743 alphafold2_multimer_v1_model_2_seed_000 recycle=2 pLDDT=84.9 pTM=0.602 ipTM=0.181 tol=1.45</a:t>
            </a:r>
            <a:endParaRPr lang="en-US" altLang="zh-CN"/>
          </a:p>
          <a:p>
            <a:r>
              <a:rPr lang="en-US" altLang="zh-CN"/>
              <a:t>2026-03-26 15:44:25,576 alphafold2_multimer_v1_model_2_seed_000 recycle=3 pLDDT=86.3 pTM=0.618 ipTM=0.214 tol=0.94</a:t>
            </a:r>
            <a:endParaRPr lang="en-US" altLang="zh-CN"/>
          </a:p>
          <a:p>
            <a:r>
              <a:rPr lang="en-US" altLang="zh-CN"/>
              <a:t>2026-03-26 15:44:25,577 alphafold2_multimer_v1_model_2_seed_000 took 36.1s (3 recycles)</a:t>
            </a:r>
            <a:endParaRPr lang="en-US" altLang="zh-CN"/>
          </a:p>
          <a:p>
            <a:endParaRPr lang="en-US" altLang="zh-CN"/>
          </a:p>
          <a:p>
            <a:r>
              <a:rPr lang="en-US" altLang="zh-CN"/>
              <a:t>2026-03-26 15:44:34,501 alphafold2_multimer_v1_model_3_seed_000 recycle=0 pLDDT=75.2 pTM=0.59 ipTM=0.16</a:t>
            </a:r>
            <a:endParaRPr lang="en-US" altLang="zh-CN"/>
          </a:p>
          <a:p>
            <a:r>
              <a:rPr lang="en-US" altLang="zh-CN"/>
              <a:t>2026-03-26 15:44:43,316 alphafold2_multimer_v1_model_3_seed_000 recycle=1 pLDDT=80.5 pTM=0.619 ipTM=0.233 tol=7.8</a:t>
            </a:r>
            <a:endParaRPr lang="en-US" altLang="zh-CN"/>
          </a:p>
          <a:p>
            <a:r>
              <a:rPr lang="en-US" altLang="zh-CN"/>
              <a:t>2026-03-26 15:44:52,185 alphafold2_multimer_v1_model_3_seed_000 recycle=2 pLDDT=82.3 pTM=0.589 ipTM=0.16 tol=2.25</a:t>
            </a:r>
            <a:endParaRPr lang="en-US" altLang="zh-CN"/>
          </a:p>
          <a:p>
            <a:r>
              <a:rPr lang="en-US" altLang="zh-CN"/>
              <a:t>2026-03-26 15:45:01,127 alphafold2_multimer_v1_model_3_seed_000 recycle=3 pLDDT=81.8 pTM=0.629 ipTM=0.246 tol=1.53</a:t>
            </a:r>
            <a:endParaRPr lang="en-US" altLang="zh-CN"/>
          </a:p>
          <a:p>
            <a:r>
              <a:rPr lang="en-US" altLang="zh-CN"/>
              <a:t>2026-03-26 15:45:01,128 alphafold2_multimer_v1_model_3_seed_000 took 35.4s (3 recycles)</a:t>
            </a:r>
            <a:endParaRPr lang="en-US" altLang="zh-CN"/>
          </a:p>
          <a:p>
            <a:endParaRPr lang="en-US" altLang="zh-CN"/>
          </a:p>
          <a:p>
            <a:r>
              <a:rPr lang="en-US" altLang="zh-CN"/>
              <a:t>2026-03-26 15:45:10,303 alphafold2_multimer_v1_model_4_seed_000 recycle=0 pLDDT=84.3 pTM=0.582 ipTM=0.138</a:t>
            </a:r>
            <a:endParaRPr lang="en-US" altLang="zh-CN"/>
          </a:p>
          <a:p>
            <a:r>
              <a:rPr lang="en-US" altLang="zh-CN"/>
              <a:t>2026-03-26 15:45:19,336 alphafold2_multimer_v1_model_4_seed_000 recycle=1 pLDDT=87.6 pTM=0.594 ipTM=0.161 tol=7.25</a:t>
            </a:r>
            <a:endParaRPr lang="en-US" altLang="zh-CN"/>
          </a:p>
          <a:p>
            <a:r>
              <a:rPr lang="en-US" altLang="zh-CN"/>
              <a:t>2026-03-26 15:45:28,365 alphafold2_multimer_v1_model_4_seed_000 recycle=2 pLDDT=89.2 pTM=0.601 ipTM=0.175 tol=4.87</a:t>
            </a:r>
            <a:endParaRPr lang="en-US" altLang="zh-CN"/>
          </a:p>
          <a:p>
            <a:r>
              <a:rPr lang="en-US" altLang="zh-CN"/>
              <a:t>2026-03-26 15:45:37,356 alphafold2_multimer_v1_model_4_seed_000 recycle=3 pLDDT=89.8 pTM=0.596 ipTM=0.166 tol=1.18</a:t>
            </a:r>
            <a:endParaRPr lang="en-US" altLang="zh-CN"/>
          </a:p>
          <a:p>
            <a:r>
              <a:rPr lang="en-US" altLang="zh-CN"/>
              <a:t>2026-03-26 15:45:37,356 alphafold2_multimer_v1_model_4_seed_000 took 36.1s (3 recycles)</a:t>
            </a:r>
            <a:endParaRPr lang="en-US" altLang="zh-CN"/>
          </a:p>
          <a:p>
            <a:endParaRPr lang="en-US" altLang="zh-CN"/>
          </a:p>
          <a:p>
            <a:r>
              <a:rPr lang="en-US" altLang="zh-CN"/>
              <a:t>2026-03-26 15:45:46,522 alphafold2_multimer_v1_model_5_seed_000 recycle=0 pLDDT=82.2 pTM=0.608 ipTM=0.201</a:t>
            </a:r>
            <a:endParaRPr lang="en-US" altLang="zh-CN"/>
          </a:p>
          <a:p>
            <a:r>
              <a:rPr lang="en-US" altLang="zh-CN"/>
              <a:t>2026-03-26 15:45:55,479 alphafold2_multimer_v1_model_5_seed_000 recycle=1 pLDDT=87.1 pTM=0.601 ipTM=0.175 tol=6.51</a:t>
            </a:r>
            <a:endParaRPr lang="en-US" altLang="zh-CN"/>
          </a:p>
          <a:p>
            <a:r>
              <a:rPr lang="en-US" altLang="zh-CN"/>
              <a:t>2026-03-26 15:46:04,395 alphafold2_multimer_v1_model_5_seed_000 recycle=2 pLDDT=88.6 pTM=0.587 ipTM=0.144 tol=3.62</a:t>
            </a:r>
            <a:endParaRPr lang="en-US" altLang="zh-CN"/>
          </a:p>
          <a:p>
            <a:r>
              <a:rPr lang="en-US" altLang="zh-CN"/>
              <a:t>2026-03-26 15:46:13,318 alphafold2_multimer_v1_model_5_seed_000 recycle=3 pLDDT=88.5 pTM=0.599 ipTM=0.167 tol=3.99</a:t>
            </a:r>
            <a:endParaRPr lang="en-US" altLang="zh-CN"/>
          </a:p>
          <a:p>
            <a:r>
              <a:rPr lang="en-US" altLang="zh-CN"/>
              <a:t>2026-03-26 15:46:13,319 alphafold2_multimer_v1_model_5_seed_000 took 35.8s (3 recycles)</a:t>
            </a:r>
            <a:endParaRPr lang="en-US" altLang="zh-CN"/>
          </a:p>
          <a:p>
            <a:endParaRPr lang="en-US" altLang="zh-CN"/>
          </a:p>
          <a:p>
            <a:r>
              <a:rPr lang="en-US" altLang="zh-CN"/>
              <a:t>2026-03-26 15:46:13,450 reranking models by 'multimer' metric</a:t>
            </a:r>
            <a:endParaRPr lang="en-US" altLang="zh-CN"/>
          </a:p>
          <a:p>
            <a:r>
              <a:rPr lang="en-US" altLang="zh-CN"/>
              <a:t>2026-03-26 15:46:13,450 rank_001_alphafold2_multimer_v1_model_3_seed_000 pLDDT=81.8 pTM=0.629 ipTM=0.246</a:t>
            </a:r>
            <a:endParaRPr lang="en-US" altLang="zh-CN"/>
          </a:p>
          <a:p>
            <a:r>
              <a:rPr lang="en-US" altLang="zh-CN"/>
              <a:t>2026-03-26 15:46:13,451 rank_002_alphafold2_multimer_v1_model_2_seed_000 pLDDT=86.3 pTM=0.618 ipTM=0.214</a:t>
            </a:r>
            <a:endParaRPr lang="en-US" altLang="zh-CN"/>
          </a:p>
          <a:p>
            <a:r>
              <a:rPr lang="en-US" altLang="zh-CN"/>
              <a:t>2026-03-26 15:46:13,451 rank_003_alphafold2_multimer_v1_model_5_seed_000 pLDDT=88.5 pTM=0.599 ipTM=0.167</a:t>
            </a:r>
            <a:endParaRPr lang="en-US" altLang="zh-CN"/>
          </a:p>
          <a:p>
            <a:r>
              <a:rPr lang="en-US" altLang="zh-CN"/>
              <a:t>2026-03-26 15:46:13,451 rank_004_alphafold2_multimer_v1_model_4_seed_000 pLDDT=89.8 pTM=0.596 ipTM=0.166</a:t>
            </a:r>
            <a:endParaRPr lang="en-US" altLang="zh-CN"/>
          </a:p>
          <a:p>
            <a:r>
              <a:rPr lang="en-US" altLang="zh-CN"/>
              <a:t>2026-03-26 15:46:13,451 rank_005_alphafold2_multimer_v1_model_1_seed_000 pLDDT=85 pTM=0.587 ipTM=0.141</a:t>
            </a:r>
            <a:endParaRPr lang="en-US" altLang="zh-CN"/>
          </a:p>
          <a:p>
            <a:r>
              <a:rPr lang="en-US" altLang="zh-CN"/>
              <a:t>2026-03-26 15:46:14,572 Done</a:t>
            </a:r>
            <a:endParaRPr lang="en-US" altLang="zh-CN"/>
          </a:p>
          <a:p>
            <a:r>
              <a:rPr lang="en-US" altLang="zh-CN"/>
              <a:t>0</a:t>
            </a:r>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2026-03-26 15:51:32,883 alphafold2_multimer_v1_model_2_seed_000 recycle=0 pLDDT=81.2 pTM=0.584 ipTM=0.144</a:t>
            </a:r>
            <a:endParaRPr lang="en-US" altLang="zh-CN"/>
          </a:p>
          <a:p>
            <a:r>
              <a:rPr lang="en-US" altLang="zh-CN"/>
              <a:t>2026-03-26 15:51:42,025 alphafold2_multimer_v1_model_2_seed_000 recycle=1 pLDDT=88.9 pTM=0.579 ipTM=0.126 tol=3.96</a:t>
            </a:r>
            <a:endParaRPr lang="en-US" altLang="zh-CN"/>
          </a:p>
          <a:p>
            <a:r>
              <a:rPr lang="en-US" altLang="zh-CN"/>
              <a:t>2026-03-26 15:51:50,976 alphafold2_multimer_v1_model_2_seed_000 recycle=2 pLDDT=89.6 pTM=0.586 ipTM=0.142 tol=1.66</a:t>
            </a:r>
            <a:endParaRPr lang="en-US" altLang="zh-CN"/>
          </a:p>
          <a:p>
            <a:r>
              <a:rPr lang="en-US" altLang="zh-CN"/>
              <a:t>2026-03-26 15:51:59,827 alphafold2_multimer_v1_model_2_seed_000 recycle=3 pLDDT=89.9 pTM=0.606 ipTM=0.186 tol=1.09</a:t>
            </a:r>
            <a:endParaRPr lang="en-US" altLang="zh-CN"/>
          </a:p>
          <a:p>
            <a:r>
              <a:rPr lang="en-US" altLang="zh-CN"/>
              <a:t>2026-03-26 15:51:59,828 alphafold2_multimer_v1_model_2_seed_000 took 36.2s (3 recycles)</a:t>
            </a:r>
            <a:endParaRPr lang="en-US" altLang="zh-CN"/>
          </a:p>
          <a:p>
            <a:endParaRPr lang="en-US" altLang="zh-CN"/>
          </a:p>
          <a:p>
            <a:r>
              <a:rPr lang="en-US" altLang="zh-CN"/>
              <a:t>2026-03-26 15:52:08,756 alphafold2_multimer_v1_model_3_seed_000 recycle=0 pLDDT=78.9 pTM=0.587 ipTM=0.153</a:t>
            </a:r>
            <a:endParaRPr lang="en-US" altLang="zh-CN"/>
          </a:p>
          <a:p>
            <a:r>
              <a:rPr lang="en-US" altLang="zh-CN"/>
              <a:t>2026-03-26 15:52:17,582 alphafold2_multimer_v1_model_3_seed_000 recycle=1 pLDDT=83.9 pTM=0.596 ipTM=0.17 tol=4.46</a:t>
            </a:r>
            <a:endParaRPr lang="en-US" altLang="zh-CN"/>
          </a:p>
          <a:p>
            <a:r>
              <a:rPr lang="en-US" altLang="zh-CN"/>
              <a:t>2026-03-26 15:52:26,450 alphafold2_multimer_v1_model_3_seed_000 recycle=2 pLDDT=85.4 pTM=0.583 ipTM=0.143 tol=2.73</a:t>
            </a:r>
            <a:endParaRPr lang="en-US" altLang="zh-CN"/>
          </a:p>
          <a:p>
            <a:r>
              <a:rPr lang="en-US" altLang="zh-CN"/>
              <a:t>2026-03-26 15:52:35,388 alphafold2_multimer_v1_model_3_seed_000 recycle=3 pLDDT=86.1 pTM=0.602 ipTM=0.188 tol=0.801</a:t>
            </a:r>
            <a:endParaRPr lang="en-US" altLang="zh-CN"/>
          </a:p>
          <a:p>
            <a:r>
              <a:rPr lang="en-US" altLang="zh-CN"/>
              <a:t>2026-03-26 15:52:35,389 alphafold2_multimer_v1_model_3_seed_000 took 35.4s (3 recycles)</a:t>
            </a:r>
            <a:endParaRPr lang="en-US" altLang="zh-CN"/>
          </a:p>
          <a:p>
            <a:endParaRPr lang="en-US" altLang="zh-CN"/>
          </a:p>
          <a:p>
            <a:r>
              <a:rPr lang="en-US" altLang="zh-CN"/>
              <a:t>2026-03-26 15:52:44,584 alphafold2_multimer_v1_model_4_seed_000 recycle=0 pLDDT=85.8 pTM=0.586 ipTM=0.15</a:t>
            </a:r>
            <a:endParaRPr lang="en-US" altLang="zh-CN"/>
          </a:p>
          <a:p>
            <a:r>
              <a:rPr lang="en-US" altLang="zh-CN"/>
              <a:t>2026-03-26 15:52:53,632 alphafold2_multimer_v1_model_4_seed_000 recycle=1 pLDDT=89.8 pTM=0.565 ipTM=0.0978 tol=7.03</a:t>
            </a:r>
            <a:endParaRPr lang="en-US" altLang="zh-CN"/>
          </a:p>
          <a:p>
            <a:r>
              <a:rPr lang="en-US" altLang="zh-CN"/>
              <a:t>2026-03-26 15:53:02,682 alphafold2_multimer_v1_model_4_seed_000 recycle=2 pLDDT=89.9 pTM=0.563 ipTM=0.104 tol=2.42</a:t>
            </a:r>
            <a:endParaRPr lang="en-US" altLang="zh-CN"/>
          </a:p>
          <a:p>
            <a:r>
              <a:rPr lang="en-US" altLang="zh-CN"/>
              <a:t>2026-03-26 15:53:11,714 alphafold2_multimer_v1_model_4_seed_000 recycle=3 pLDDT=90.1 pTM=0.572 ipTM=0.106 tol=1.51</a:t>
            </a:r>
            <a:endParaRPr lang="en-US" altLang="zh-CN"/>
          </a:p>
          <a:p>
            <a:r>
              <a:rPr lang="en-US" altLang="zh-CN"/>
              <a:t>2026-03-26 15:53:11,715 alphafold2_multimer_v1_model_4_seed_000 took 36.2s (3 recycles)</a:t>
            </a:r>
            <a:endParaRPr lang="en-US" altLang="zh-CN"/>
          </a:p>
          <a:p>
            <a:endParaRPr lang="en-US" altLang="zh-CN"/>
          </a:p>
          <a:p>
            <a:r>
              <a:rPr lang="en-US" altLang="zh-CN"/>
              <a:t>2026-03-26 15:53:20,873 alphafold2_multimer_v1_model_5_seed_000 recycle=0 pLDDT=86.6 pTM=0.585 ipTM=0.146</a:t>
            </a:r>
            <a:endParaRPr lang="en-US" altLang="zh-CN"/>
          </a:p>
          <a:p>
            <a:r>
              <a:rPr lang="en-US" altLang="zh-CN"/>
              <a:t>2026-03-26 15:53:29,828 alphafold2_multimer_v1_model_5_seed_000 recycle=1 pLDDT=88.2 pTM=0.602 ipTM=0.181 tol=7.07</a:t>
            </a:r>
            <a:endParaRPr lang="en-US" altLang="zh-CN"/>
          </a:p>
          <a:p>
            <a:r>
              <a:rPr lang="en-US" altLang="zh-CN"/>
              <a:t>2026-03-26 15:53:38,773 alphafold2_multimer_v1_model_5_seed_000 recycle=2 pLDDT=89.5 pTM=0.597 ipTM=0.171 tol=1.84</a:t>
            </a:r>
            <a:endParaRPr lang="en-US" altLang="zh-CN"/>
          </a:p>
          <a:p>
            <a:r>
              <a:rPr lang="en-US" altLang="zh-CN"/>
              <a:t>2026-03-26 15:53:47,721 alphafold2_multimer_v1_model_5_seed_000 recycle=3 pLDDT=90.9 pTM=0.6 ipTM=0.174 tol=1.45</a:t>
            </a:r>
            <a:endParaRPr lang="en-US" altLang="zh-CN"/>
          </a:p>
          <a:p>
            <a:r>
              <a:rPr lang="en-US" altLang="zh-CN"/>
              <a:t>2026-03-26 15:53:47,722 alphafold2_multimer_v1_model_5_seed_000 took 35.9s (3 recycles)</a:t>
            </a:r>
            <a:endParaRPr lang="en-US" altLang="zh-CN"/>
          </a:p>
          <a:p>
            <a:endParaRPr lang="en-US" altLang="zh-CN"/>
          </a:p>
          <a:p>
            <a:r>
              <a:rPr lang="en-US" altLang="zh-CN"/>
              <a:t>2026-03-26 15:53:47,855 reranking models by 'multimer' metric</a:t>
            </a:r>
            <a:endParaRPr lang="en-US" altLang="zh-CN"/>
          </a:p>
          <a:p>
            <a:r>
              <a:rPr lang="en-US" altLang="zh-CN"/>
              <a:t>2026-03-26 15:53:47,855 rank_001_alphafold2_multimer_v1_model_3_seed_000 pLDDT=86.1 pTM=0.602 ipTM=0.188</a:t>
            </a:r>
            <a:endParaRPr lang="en-US" altLang="zh-CN"/>
          </a:p>
          <a:p>
            <a:r>
              <a:rPr lang="en-US" altLang="zh-CN"/>
              <a:t>2026-03-26 15:53:47,855 rank_002_alphafold2_multimer_v1_model_2_seed_000 pLDDT=89.9 pTM=0.606 ipTM=0.186</a:t>
            </a:r>
            <a:endParaRPr lang="en-US" altLang="zh-CN"/>
          </a:p>
          <a:p>
            <a:r>
              <a:rPr lang="en-US" altLang="zh-CN"/>
              <a:t>2026-03-26 15:53:47,855 rank_003_alphafold2_multimer_v1_model_5_seed_000 pLDDT=90.9 pTM=0.6 ipTM=0.174</a:t>
            </a:r>
            <a:endParaRPr lang="en-US" altLang="zh-CN"/>
          </a:p>
          <a:p>
            <a:r>
              <a:rPr lang="en-US" altLang="zh-CN"/>
              <a:t>2026-03-26 15:53:47,856 rank_004_alphafold2_multimer_v1_model_1_seed_000 pLDDT=90.2 pTM=0.586 ipTM=0.138</a:t>
            </a:r>
            <a:endParaRPr lang="en-US" altLang="zh-CN"/>
          </a:p>
          <a:p>
            <a:r>
              <a:rPr lang="en-US" altLang="zh-CN"/>
              <a:t>2026-03-26 15:53:47,856 rank_005_alphafold2_multimer_v1_model_4_seed_000 pLDDT=90.1 pTM=0.572 ipTM=0.106</a:t>
            </a:r>
            <a:endParaRPr lang="en-US" altLang="zh-CN"/>
          </a:p>
          <a:p>
            <a:r>
              <a:rPr lang="en-US" altLang="zh-CN"/>
              <a:t>2026-03-26 15:53:49,346 Done</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04000"/>
            <a:ext cx="5342400" cy="4140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04000"/>
            <a:ext cx="5342400" cy="4140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397600"/>
            <a:ext cx="9799200" cy="11052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5040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ea"/>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image" Target="../media/image3.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tags" Target="../tags/tag66.xml"/><Relationship Id="rId2" Type="http://schemas.openxmlformats.org/officeDocument/2006/relationships/image" Target="../media/image4.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tags" Target="../tags/tag67.xml"/><Relationship Id="rId2" Type="http://schemas.openxmlformats.org/officeDocument/2006/relationships/image" Target="../media/image5.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8.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9.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0.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35" y="0"/>
            <a:ext cx="12192635" cy="4523105"/>
          </a:xfrm>
          <a:prstGeom prst="rect">
            <a:avLst/>
          </a:prstGeom>
          <a:noFill/>
        </p:spPr>
        <p:txBody>
          <a:bodyPr wrap="square" rtlCol="0" anchor="t">
            <a:spAutoFit/>
          </a:bodyPr>
          <a:p>
            <a:r>
              <a:rPr lang="zh-CN" altLang="en-US"/>
              <a:t>本周任务</a:t>
            </a:r>
            <a:r>
              <a:rPr lang="en-US" altLang="zh-CN"/>
              <a:t>：</a:t>
            </a:r>
            <a:endParaRPr lang="en-US" altLang="zh-CN"/>
          </a:p>
          <a:p>
            <a:endParaRPr lang="en-US" altLang="zh-CN"/>
          </a:p>
          <a:p>
            <a:pPr marL="285750" indent="-285750">
              <a:buFont typeface="Arial" panose="020B0604020202090204" pitchFamily="34" charset="0"/>
              <a:buChar char="•"/>
            </a:pPr>
            <a:r>
              <a:rPr lang="zh-CN" altLang="en-US"/>
              <a:t>灌注实验</a:t>
            </a:r>
            <a:r>
              <a:rPr lang="en-US" altLang="zh-CN"/>
              <a:t>+</a:t>
            </a:r>
            <a:r>
              <a:rPr lang="zh-CN" altLang="en-US"/>
              <a:t>紫金港看脑子</a:t>
            </a:r>
            <a:r>
              <a:rPr lang="en-US" altLang="zh-CN"/>
              <a:t>，</a:t>
            </a:r>
            <a:r>
              <a:rPr lang="zh-CN" altLang="en-US"/>
              <a:t>准备沉糖</a:t>
            </a:r>
            <a:r>
              <a:rPr lang="en-US" altLang="zh-CN"/>
              <a:t>，</a:t>
            </a:r>
            <a:r>
              <a:rPr lang="zh-CN" altLang="en-US"/>
              <a:t>包埋</a:t>
            </a:r>
            <a:r>
              <a:rPr lang="en-US" altLang="zh-CN"/>
              <a:t>（</a:t>
            </a:r>
            <a:r>
              <a:rPr lang="en-US" altLang="zh-CN">
                <a:sym typeface="+mn-ea"/>
              </a:rPr>
              <a:t>PVR</a:t>
            </a:r>
            <a:r>
              <a:rPr lang="zh-CN" altLang="en-US">
                <a:sym typeface="+mn-ea"/>
              </a:rPr>
              <a:t>项目</a:t>
            </a:r>
            <a:r>
              <a:rPr lang="en-US" altLang="zh-CN">
                <a:sym typeface="+mn-ea"/>
              </a:rPr>
              <a:t>，</a:t>
            </a:r>
            <a:r>
              <a:rPr lang="zh-CN" altLang="en-US">
                <a:sym typeface="+mn-ea"/>
              </a:rPr>
              <a:t>张师兄</a:t>
            </a:r>
            <a:r>
              <a:rPr lang="en-US" altLang="zh-CN">
                <a:sym typeface="+mn-ea"/>
              </a:rPr>
              <a:t>，</a:t>
            </a:r>
            <a:r>
              <a:rPr lang="zh-CN" altLang="en-US">
                <a:sym typeface="+mn-ea"/>
              </a:rPr>
              <a:t>魏师妹</a:t>
            </a:r>
            <a:r>
              <a:rPr lang="en-US" altLang="zh-CN">
                <a:sym typeface="+mn-ea"/>
              </a:rPr>
              <a:t>，15</a:t>
            </a:r>
            <a:r>
              <a:rPr lang="zh-CN" altLang="en-US">
                <a:sym typeface="+mn-ea"/>
              </a:rPr>
              <a:t>只</a:t>
            </a:r>
            <a:r>
              <a:rPr lang="en-US" altLang="zh-CN">
                <a:sym typeface="+mn-ea"/>
              </a:rPr>
              <a:t>，</a:t>
            </a:r>
            <a:r>
              <a:rPr lang="zh-CN" altLang="en-US">
                <a:sym typeface="+mn-ea"/>
              </a:rPr>
              <a:t>两天</a:t>
            </a:r>
            <a:r>
              <a:rPr lang="en-US" altLang="zh-CN">
                <a:sym typeface="+mn-ea"/>
              </a:rPr>
              <a:t>）</a:t>
            </a:r>
            <a:r>
              <a:rPr lang="en-US" altLang="zh-CN"/>
              <a:t>；</a:t>
            </a:r>
            <a:endParaRPr lang="en-US" altLang="zh-CN"/>
          </a:p>
          <a:p>
            <a:pPr marL="285750" indent="-285750">
              <a:buFont typeface="Arial" panose="020B0604020202090204" pitchFamily="34" charset="0"/>
              <a:buChar char="•"/>
            </a:pPr>
            <a:r>
              <a:rPr lang="en-US" altLang="zh-CN"/>
              <a:t>Agent</a:t>
            </a:r>
            <a:r>
              <a:rPr lang="zh-CN" altLang="en-US"/>
              <a:t>设计跑干实验</a:t>
            </a:r>
            <a:r>
              <a:rPr lang="en-US" altLang="zh-CN"/>
              <a:t>（</a:t>
            </a:r>
            <a:r>
              <a:rPr lang="zh-CN" altLang="en-US"/>
              <a:t>莫师弟</a:t>
            </a:r>
            <a:r>
              <a:rPr lang="en-US" altLang="zh-CN"/>
              <a:t>，AlphaFold2-</a:t>
            </a:r>
            <a:r>
              <a:rPr lang="en-US" altLang="zh-CN"/>
              <a:t>Multimer，</a:t>
            </a:r>
            <a:r>
              <a:rPr lang="zh-CN" altLang="en-US"/>
              <a:t>逆折叠</a:t>
            </a:r>
            <a:r>
              <a:rPr lang="en-US" altLang="zh-CN"/>
              <a:t>，hallucination，</a:t>
            </a:r>
            <a:r>
              <a:rPr lang="en-US" altLang="zh-CN"/>
              <a:t>ESM-1vf）；</a:t>
            </a:r>
            <a:endParaRPr lang="en-US" altLang="zh-CN"/>
          </a:p>
          <a:p>
            <a:pPr marL="285750" indent="-285750">
              <a:buFont typeface="Arial" panose="020B0604020202090204" pitchFamily="34" charset="0"/>
              <a:buChar char="•"/>
            </a:pPr>
            <a:r>
              <a:rPr lang="en-US" altLang="zh-CN"/>
              <a:t>Agent</a:t>
            </a:r>
            <a:r>
              <a:rPr lang="zh-CN" altLang="en-US"/>
              <a:t>预测实验实现批处理预测方法</a:t>
            </a:r>
            <a:r>
              <a:rPr lang="en-US" altLang="zh-CN"/>
              <a:t>；</a:t>
            </a:r>
            <a:endParaRPr lang="en-US" altLang="zh-CN"/>
          </a:p>
          <a:p>
            <a:pPr marL="285750" indent="-285750">
              <a:buFont typeface="Arial" panose="020B0604020202090204" pitchFamily="34" charset="0"/>
              <a:buChar char="•"/>
            </a:pPr>
            <a:r>
              <a:rPr lang="zh-CN" altLang="en-US"/>
              <a:t>稿件校验与代码整理</a:t>
            </a:r>
            <a:r>
              <a:rPr lang="en-US" altLang="zh-CN"/>
              <a:t>（</a:t>
            </a:r>
            <a:r>
              <a:rPr lang="zh-CN" altLang="en-US"/>
              <a:t>两天</a:t>
            </a:r>
            <a:r>
              <a:rPr lang="en-US" altLang="zh-CN"/>
              <a:t>）；</a:t>
            </a:r>
            <a:endParaRPr lang="en-US" altLang="zh-CN"/>
          </a:p>
          <a:p>
            <a:pPr marL="285750" indent="-285750">
              <a:buFont typeface="Arial" panose="020B0604020202090204" pitchFamily="34" charset="0"/>
              <a:buChar char="•"/>
            </a:pPr>
            <a:endParaRPr lang="en-US" altLang="zh-CN"/>
          </a:p>
          <a:p>
            <a:endParaRPr lang="en-US" altLang="zh-CN"/>
          </a:p>
          <a:p>
            <a:endParaRPr lang="en-US" altLang="zh-CN"/>
          </a:p>
          <a:p>
            <a:endParaRPr lang="en-US" altLang="zh-CN"/>
          </a:p>
          <a:p>
            <a:r>
              <a:rPr lang="zh-CN" altLang="en-US"/>
              <a:t>下周任务</a:t>
            </a:r>
            <a:r>
              <a:rPr lang="en-US" altLang="zh-CN"/>
              <a:t>：</a:t>
            </a:r>
            <a:endParaRPr lang="en-US" altLang="zh-CN"/>
          </a:p>
          <a:p>
            <a:pPr marL="285750" indent="-285750">
              <a:buFont typeface="Arial" panose="020B0604020202090204" pitchFamily="34" charset="0"/>
              <a:buChar char="•"/>
            </a:pPr>
            <a:r>
              <a:rPr lang="zh-CN" altLang="en-US"/>
              <a:t>软件开发工作</a:t>
            </a:r>
            <a:r>
              <a:rPr lang="en-US" altLang="zh-CN"/>
              <a:t>：</a:t>
            </a:r>
            <a:endParaRPr lang="en-US" altLang="zh-CN"/>
          </a:p>
          <a:p>
            <a:pPr marL="285750" indent="-285750">
              <a:buFont typeface="Arial" panose="020B0604020202090204" pitchFamily="34" charset="0"/>
              <a:buChar char="•"/>
            </a:pPr>
            <a:r>
              <a:rPr lang="en-US" altLang="zh-CN">
                <a:sym typeface="+mn-ea"/>
              </a:rPr>
              <a:t>Agent</a:t>
            </a:r>
            <a:r>
              <a:rPr lang="zh-CN" altLang="en-US">
                <a:sym typeface="+mn-ea"/>
              </a:rPr>
              <a:t>设计跑实验</a:t>
            </a:r>
            <a:r>
              <a:rPr lang="en-US" altLang="zh-CN">
                <a:sym typeface="+mn-ea"/>
              </a:rPr>
              <a:t>；</a:t>
            </a:r>
            <a:endParaRPr lang="en-US" altLang="zh-CN">
              <a:sym typeface="+mn-ea"/>
            </a:endParaRPr>
          </a:p>
          <a:p>
            <a:pPr marL="285750" indent="-285750">
              <a:buFont typeface="Arial" panose="020B0604020202090204" pitchFamily="34" charset="0"/>
              <a:buChar char="•"/>
            </a:pPr>
            <a:r>
              <a:rPr lang="zh-CN" altLang="en-US">
                <a:sym typeface="+mn-ea"/>
              </a:rPr>
              <a:t>灌注实验</a:t>
            </a:r>
            <a:r>
              <a:rPr lang="en-US" altLang="zh-CN">
                <a:sym typeface="+mn-ea"/>
              </a:rPr>
              <a:t>+</a:t>
            </a:r>
            <a:r>
              <a:rPr lang="zh-CN" altLang="en-US">
                <a:sym typeface="+mn-ea"/>
              </a:rPr>
              <a:t>紫金港看脑子</a:t>
            </a:r>
            <a:r>
              <a:rPr lang="en-US" altLang="zh-CN">
                <a:sym typeface="+mn-ea"/>
              </a:rPr>
              <a:t>，</a:t>
            </a:r>
            <a:r>
              <a:rPr lang="zh-CN" altLang="en-US">
                <a:sym typeface="+mn-ea"/>
              </a:rPr>
              <a:t>准备沉糖</a:t>
            </a:r>
            <a:r>
              <a:rPr lang="en-US" altLang="zh-CN">
                <a:sym typeface="+mn-ea"/>
              </a:rPr>
              <a:t>，</a:t>
            </a:r>
            <a:r>
              <a:rPr lang="zh-CN" altLang="en-US">
                <a:sym typeface="+mn-ea"/>
              </a:rPr>
              <a:t>包埋</a:t>
            </a:r>
            <a:r>
              <a:rPr lang="en-US" altLang="zh-CN">
                <a:sym typeface="+mn-ea"/>
              </a:rPr>
              <a:t>；（CD59</a:t>
            </a:r>
            <a:r>
              <a:rPr lang="zh-CN" altLang="en-US">
                <a:sym typeface="+mn-ea"/>
              </a:rPr>
              <a:t>项目</a:t>
            </a:r>
            <a:r>
              <a:rPr lang="en-US" altLang="zh-CN">
                <a:sym typeface="+mn-ea"/>
              </a:rPr>
              <a:t>）</a:t>
            </a:r>
            <a:endParaRPr lang="en-US" altLang="zh-CN">
              <a:sym typeface="+mn-ea"/>
            </a:endParaRPr>
          </a:p>
          <a:p>
            <a:pPr marL="285750" indent="-285750">
              <a:buFont typeface="Arial" panose="020B0604020202090204" pitchFamily="34" charset="0"/>
              <a:buChar char="•"/>
            </a:pPr>
            <a:r>
              <a:rPr lang="zh-CN" altLang="en-US"/>
              <a:t>冰箱组织清理</a:t>
            </a:r>
            <a:endParaRPr lang="en-US" altLang="zh-CN"/>
          </a:p>
          <a:p>
            <a:endParaRPr lang="en-US" altLang="zh-CN"/>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27330" y="151130"/>
            <a:ext cx="11616055" cy="1198880"/>
          </a:xfrm>
          <a:prstGeom prst="rect">
            <a:avLst/>
          </a:prstGeom>
          <a:noFill/>
        </p:spPr>
        <p:txBody>
          <a:bodyPr wrap="square" rtlCol="0" anchor="t">
            <a:spAutoFit/>
          </a:bodyPr>
          <a:p>
            <a:r>
              <a:rPr lang="en-US" altLang="zh-CN"/>
              <a:t>&gt;design:0 n:0|mpnn:1.093|plddt:0.844|i_ptm:0.090|i_pae:27.141|rmsd:16.501</a:t>
            </a:r>
            <a:endParaRPr lang="en-US" altLang="zh-CN"/>
          </a:p>
          <a:p>
            <a:r>
              <a:rPr lang="en-US" altLang="zh-CN"/>
              <a:t>AFTVTVPKDLYVVEYGSQMTIECKFPVEKQLDLAALIVYWEMEDKNIIQFVHGEEDLKVQHSSYRQRARLLKDQLSLGNAALQITDVKLQDAGVYRCMISYGGADYKRITVKVNAPY/AKKSEITIKITIKAEGKVVEVSEINISHSPSAEVKVEVKVESFEDGTLVVTIKITATGPVTISIDVTIKAKDGSEVKILEKKEEVEEKEL</a:t>
            </a:r>
            <a:endParaRPr lang="zh-CN" altLang="en-US"/>
          </a:p>
        </p:txBody>
      </p:sp>
      <p:pic>
        <p:nvPicPr>
          <p:cNvPr id="5" name="图片 4"/>
          <p:cNvPicPr/>
          <p:nvPr/>
        </p:nvPicPr>
        <p:blipFill>
          <a:blip r:embed="rId1"/>
          <a:stretch>
            <a:fillRect/>
          </a:stretch>
        </p:blipFill>
        <p:spPr>
          <a:xfrm>
            <a:off x="0" y="1350010"/>
            <a:ext cx="4786630" cy="3014980"/>
          </a:xfrm>
          <a:prstGeom prst="rect">
            <a:avLst/>
          </a:prstGeom>
        </p:spPr>
      </p:pic>
      <p:sp>
        <p:nvSpPr>
          <p:cNvPr id="6" name="文本框 5"/>
          <p:cNvSpPr txBox="1"/>
          <p:nvPr/>
        </p:nvSpPr>
        <p:spPr>
          <a:xfrm>
            <a:off x="0" y="4442460"/>
            <a:ext cx="8166735" cy="2306955"/>
          </a:xfrm>
          <a:prstGeom prst="rect">
            <a:avLst/>
          </a:prstGeom>
        </p:spPr>
        <p:txBody>
          <a:bodyPr wrap="square">
            <a:spAutoFit/>
          </a:bodyPr>
          <a:p>
            <a:pPr marL="0" indent="0"/>
            <a:r>
              <a:rPr lang="en-US" altLang="zh-CN" sz="1600" b="0" i="0">
                <a:solidFill>
                  <a:srgbClr val="1F1F1F"/>
                </a:solidFill>
                <a:latin typeface="monospace"/>
                <a:ea typeface="monospace"/>
              </a:rPr>
              <a:t>2026-03-26 15:20:48,183 alphafold2_multimer_v3_model_1_seed_000 recycle=0 pLDDT=67.9 pTM=0.601 ipTM=0.206 2026-03-26 15:21:36,462 alphafold2_multimer_v3_model_1_seed_000 recycle=1 pLDDT=69.6 pTM=0.584 ipTM=0.15 tol=4.79 2026-03-26 15:21:51,952 alphafold2_multimer_v3_model_1_seed_000 recycle=2 pLDDT=72.3 pTM=0.579 ipTM=0.144 tol=7.38 2026-03-26 15:22:07,789 alphafold2_multimer_v3_model_1_seed_000 recycle=3 pLDDT=75.2 pTM=0.589 ipTM=0.164 tol=6.33 2026-03-26 15:22:07,790 alphafold2_multimer_v3_model_1_seed_000 took 133.3s (3 recycles)</a:t>
            </a:r>
            <a:endParaRPr lang="en-US" altLang="zh-CN" sz="1600" b="0" i="0">
              <a:solidFill>
                <a:srgbClr val="1F1F1F"/>
              </a:solidFill>
              <a:latin typeface="monospace"/>
              <a:ea typeface="monospace"/>
            </a:endParaRPr>
          </a:p>
        </p:txBody>
      </p:sp>
      <p:pic>
        <p:nvPicPr>
          <p:cNvPr id="7" name="图片 6"/>
          <p:cNvPicPr/>
          <p:nvPr/>
        </p:nvPicPr>
        <p:blipFill>
          <a:blip r:embed="rId2"/>
          <a:stretch>
            <a:fillRect/>
          </a:stretch>
        </p:blipFill>
        <p:spPr>
          <a:xfrm>
            <a:off x="5993130" y="1516126"/>
            <a:ext cx="5120640" cy="2517648"/>
          </a:xfrm>
          <a:prstGeom prst="rect">
            <a:avLst/>
          </a:prstGeom>
        </p:spPr>
      </p:pic>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0"/>
            <a:ext cx="12192000" cy="1476375"/>
          </a:xfrm>
          <a:prstGeom prst="rect">
            <a:avLst/>
          </a:prstGeom>
          <a:noFill/>
        </p:spPr>
        <p:txBody>
          <a:bodyPr wrap="square" rtlCol="0" anchor="t">
            <a:spAutoFit/>
          </a:bodyPr>
          <a:p>
            <a:r>
              <a:rPr lang="en-US" altLang="zh-CN"/>
              <a:t>&gt;design:0 n:1|mpnn:1.036|plddt:0.777|i_ptm:0.087|i_pae:27.314|rmsd:10.787</a:t>
            </a:r>
            <a:endParaRPr lang="en-US" altLang="zh-CN"/>
          </a:p>
          <a:p>
            <a:r>
              <a:rPr lang="en-US" altLang="zh-CN"/>
              <a:t>AFTVTVPKDLYVVEYGSQMTIECKFPVEKQLDLAALIVYWEMEDKNIIQFVHGEEDLKVQHSSYRQRARLLKDQLSLGNAALQITDVKLQDAGVYRCMISYGGADYKRITVKVNAPY/MKKSKIEKKITIKSKGKKVSVSEINISVSPSAKVKVEVEVKEYPDGTLEVKIKIEVEGEANISIDITIKSKDGSPVEVLEEKEEEKEEEL</a:t>
            </a:r>
            <a:endParaRPr lang="en-US" altLang="zh-CN"/>
          </a:p>
          <a:p>
            <a:endParaRPr lang="zh-CN" altLang="en-US"/>
          </a:p>
        </p:txBody>
      </p:sp>
      <p:pic>
        <p:nvPicPr>
          <p:cNvPr id="3" name="图片 2"/>
          <p:cNvPicPr/>
          <p:nvPr/>
        </p:nvPicPr>
        <p:blipFill>
          <a:blip r:embed="rId1"/>
          <a:stretch>
            <a:fillRect/>
          </a:stretch>
        </p:blipFill>
        <p:spPr>
          <a:xfrm>
            <a:off x="0" y="1153160"/>
            <a:ext cx="4889500" cy="2847975"/>
          </a:xfrm>
          <a:prstGeom prst="rect">
            <a:avLst/>
          </a:prstGeom>
        </p:spPr>
      </p:pic>
      <p:sp>
        <p:nvSpPr>
          <p:cNvPr id="4" name="文本框 3"/>
          <p:cNvSpPr txBox="1"/>
          <p:nvPr/>
        </p:nvSpPr>
        <p:spPr>
          <a:xfrm>
            <a:off x="635" y="3663315"/>
            <a:ext cx="12191365" cy="1568450"/>
          </a:xfrm>
          <a:prstGeom prst="rect">
            <a:avLst/>
          </a:prstGeom>
        </p:spPr>
        <p:txBody>
          <a:bodyPr wrap="square">
            <a:spAutoFit/>
          </a:bodyPr>
          <a:p>
            <a:pPr marL="0" indent="0"/>
            <a:r>
              <a:rPr lang="en-US" altLang="zh-CN" sz="1600" b="0" i="0">
                <a:solidFill>
                  <a:srgbClr val="1F1F1F"/>
                </a:solidFill>
                <a:latin typeface="monospace"/>
                <a:ea typeface="monospace"/>
              </a:rPr>
              <a:t>2026-03-26 15:34:52,479 alphafold2_multimer_v1_model_1_seed_000 recycle=0 pLDDT=85.4 pTM=0.566 ipTM=0.099 2026-03-26 15:35:34,474 alphafold2_multimer_v1_model_1_seed_000 recycle=1 pLDDT=87.9 pTM=0.581 ipTM=0.132 tol=2.49 2026-03-26 15:35:43,700 alphafold2_multimer_v1_model_1_seed_000 recycle=2 pLDDT=86.2 pTM=0.598 ipTM=0.167 tol=3.17 2026-03-26 15:35:53,085 alphafold2_multimer_v1_model_1_seed_000 recycle=3 pLDDT=88.9 pTM=0.645 ipTM=0.274 tol=4.88 2026-03-26 15:35:53,085 alphafold2_multimer_v1_model_1_seed_000 took 103.9s (3 recycles)</a:t>
            </a:r>
            <a:endParaRPr lang="en-US" altLang="zh-CN" sz="1600" b="0" i="0">
              <a:solidFill>
                <a:srgbClr val="1F1F1F"/>
              </a:solidFill>
              <a:latin typeface="monospace"/>
              <a:ea typeface="monospace"/>
            </a:endParaRPr>
          </a:p>
        </p:txBody>
      </p:sp>
      <p:pic>
        <p:nvPicPr>
          <p:cNvPr id="5" name="图片 4"/>
          <p:cNvPicPr/>
          <p:nvPr/>
        </p:nvPicPr>
        <p:blipFill>
          <a:blip r:embed="rId2"/>
          <a:stretch>
            <a:fillRect/>
          </a:stretch>
        </p:blipFill>
        <p:spPr>
          <a:xfrm>
            <a:off x="6055995" y="1152906"/>
            <a:ext cx="5120640" cy="2517648"/>
          </a:xfrm>
          <a:prstGeom prst="rect">
            <a:avLst/>
          </a:prstGeom>
        </p:spPr>
      </p:pic>
      <p:sp>
        <p:nvSpPr>
          <p:cNvPr id="6" name="文本框 5"/>
          <p:cNvSpPr txBox="1"/>
          <p:nvPr/>
        </p:nvSpPr>
        <p:spPr>
          <a:xfrm>
            <a:off x="635" y="5043170"/>
            <a:ext cx="12192635" cy="1814830"/>
          </a:xfrm>
          <a:prstGeom prst="rect">
            <a:avLst/>
          </a:prstGeom>
        </p:spPr>
        <p:txBody>
          <a:bodyPr wrap="square">
            <a:spAutoFit/>
          </a:bodyPr>
          <a:p>
            <a:pPr marL="0" indent="0"/>
            <a:r>
              <a:rPr lang="en-US" altLang="zh-CN" sz="1600" b="0" i="0">
                <a:solidFill>
                  <a:srgbClr val="1F1F1F"/>
                </a:solidFill>
                <a:latin typeface="monospace"/>
                <a:ea typeface="monospace"/>
              </a:rPr>
              <a:t>2026-03-26 15:38:17,069 reranking models by 'multimer' metric 2026-03-26 15:38:17,070 rank_001_alphafold2_multimer_v1_model_5_seed_000 pLDDT=91.2 pTM=0.648 ipTM=0.296 2026-03-26 15:38:17,070 rank_002_alphafold2_multimer_v1_model_1_seed_000 pLDDT=88.9 pTM=0.645 ipTM=0.274 2026-03-26 15:38:17,070 rank_003_alphafold2_multimer_v1_model_2_seed_000 pLDDT=89 pTM=0.6 ipTM=0.17 2026-03-26 15:38:17,071 rank_004_alphafold2_multimer_v1_model_3_seed_000 pLDDT=81.8 pTM=0.592 ipTM=0.159 2026-03-26 15:38:17,071 rank_005_alphafold2_multimer_v1_model_4_seed_000 pLDDT=90.2 pTM=0.581 ipTM=0.125 2026-03-26 15:38:18,190 Done</a:t>
            </a:r>
            <a:endParaRPr lang="en-US" altLang="zh-CN" sz="1600" b="0" i="0">
              <a:solidFill>
                <a:srgbClr val="1F1F1F"/>
              </a:solidFill>
              <a:latin typeface="monospace"/>
              <a:ea typeface="monospace"/>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0"/>
            <a:ext cx="12192000" cy="1476375"/>
          </a:xfrm>
          <a:prstGeom prst="rect">
            <a:avLst/>
          </a:prstGeom>
          <a:noFill/>
        </p:spPr>
        <p:txBody>
          <a:bodyPr wrap="square" rtlCol="0" anchor="t">
            <a:spAutoFit/>
          </a:bodyPr>
          <a:p>
            <a:r>
              <a:rPr lang="en-US" altLang="zh-CN"/>
              <a:t>&gt;design:0 n:2|mpnn:1.029|plddt:0.753|i_ptm:0.083|i_pae:27.544|rmsd:14.561</a:t>
            </a:r>
            <a:endParaRPr lang="en-US" altLang="zh-CN"/>
          </a:p>
          <a:p>
            <a:r>
              <a:rPr lang="en-US" altLang="zh-CN"/>
              <a:t>AFTVTVPKDLYVVEYGSQMTIECKFPVEKQLDLAALIVYWEMEDKNIIQFVHGEEDLKVQHSSYRQRARLLKDQLSLGNAALQITDVKLQDAGVYRCMISYGGADYKRITVKVNAPY/MKKSKIKITITIKSKDKVVEVSEINISHSPSAKVEVEVEVESYEDGTLKVVINITVEGEATISIDITVKAKDGSPVEILEKKEEKEEEEL</a:t>
            </a:r>
            <a:endParaRPr lang="en-US" altLang="zh-CN"/>
          </a:p>
          <a:p>
            <a:endParaRPr lang="zh-CN" altLang="en-US"/>
          </a:p>
        </p:txBody>
      </p:sp>
      <p:pic>
        <p:nvPicPr>
          <p:cNvPr id="3" name="图片 2"/>
          <p:cNvPicPr/>
          <p:nvPr/>
        </p:nvPicPr>
        <p:blipFill>
          <a:blip r:embed="rId1"/>
          <a:stretch>
            <a:fillRect/>
          </a:stretch>
        </p:blipFill>
        <p:spPr>
          <a:xfrm>
            <a:off x="0" y="1223645"/>
            <a:ext cx="5100320" cy="2734310"/>
          </a:xfrm>
          <a:prstGeom prst="rect">
            <a:avLst/>
          </a:prstGeom>
        </p:spPr>
      </p:pic>
      <p:pic>
        <p:nvPicPr>
          <p:cNvPr id="4" name="图片 3"/>
          <p:cNvPicPr/>
          <p:nvPr/>
        </p:nvPicPr>
        <p:blipFill>
          <a:blip r:embed="rId2"/>
          <a:stretch>
            <a:fillRect/>
          </a:stretch>
        </p:blipFill>
        <p:spPr>
          <a:xfrm>
            <a:off x="6084570" y="1331976"/>
            <a:ext cx="5120640" cy="2517648"/>
          </a:xfrm>
          <a:prstGeom prst="rect">
            <a:avLst/>
          </a:prstGeom>
        </p:spPr>
      </p:pic>
      <p:sp>
        <p:nvSpPr>
          <p:cNvPr id="5" name="文本框 4"/>
          <p:cNvSpPr txBox="1"/>
          <p:nvPr/>
        </p:nvSpPr>
        <p:spPr>
          <a:xfrm>
            <a:off x="0" y="4099560"/>
            <a:ext cx="12192635" cy="1568450"/>
          </a:xfrm>
          <a:prstGeom prst="rect">
            <a:avLst/>
          </a:prstGeom>
        </p:spPr>
        <p:txBody>
          <a:bodyPr wrap="square">
            <a:spAutoFit/>
          </a:bodyPr>
          <a:p>
            <a:pPr marL="0" indent="0"/>
            <a:r>
              <a:rPr lang="en-US" altLang="zh-CN" sz="1600" b="0" i="0">
                <a:solidFill>
                  <a:srgbClr val="1F1F1F"/>
                </a:solidFill>
                <a:latin typeface="monospace"/>
                <a:ea typeface="monospace"/>
              </a:rPr>
              <a:t>2026-03-26 15:42:48,924 alphafold2_multimer_v1_model_1_seed_000 recycle=0 pLDDT=80.2 pTM=0.58 ipTM=0.143 2026-03-26 15:43:30,752 alphafold2_multimer_v1_model_1_seed_000 recycle=1 pLDDT=85.8 pTM=0.589 ipTM=0.149 tol=3.71 2026-03-26 15:43:39,978 alphafold2_multimer_v1_model_1_seed_000 recycle=2 pLDDT=85.1 pTM=0.588 ipTM=0.149 tol=3.41 2026-03-26 15:43:49,351 alphafold2_multimer_v1_model_1_seed_000 recycle=3 pLDDT=85 pTM=0.587 ipTM=0.141 tol=0.947 2026-03-26 15:43:49,352 alphafold2_multimer_v1_model_1_seed_000 took 101.8s (3 recycles)</a:t>
            </a:r>
            <a:endParaRPr lang="en-US" altLang="zh-CN" sz="1600" b="0" i="0">
              <a:solidFill>
                <a:srgbClr val="1F1F1F"/>
              </a:solidFill>
              <a:latin typeface="monospace"/>
              <a:ea typeface="monospace"/>
            </a:endParaRPr>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35" y="0"/>
            <a:ext cx="12192635" cy="1476375"/>
          </a:xfrm>
          <a:prstGeom prst="rect">
            <a:avLst/>
          </a:prstGeom>
          <a:noFill/>
        </p:spPr>
        <p:txBody>
          <a:bodyPr wrap="square" rtlCol="0" anchor="t">
            <a:spAutoFit/>
          </a:bodyPr>
          <a:p>
            <a:r>
              <a:rPr lang="en-US" altLang="zh-CN"/>
              <a:t>&gt;design:0 n:3|mpnn:1.045|plddt:0.830|i_ptm:0.075|i_pae:27.837|rmsd:20.633</a:t>
            </a:r>
            <a:endParaRPr lang="en-US" altLang="zh-CN"/>
          </a:p>
          <a:p>
            <a:r>
              <a:rPr lang="en-US" altLang="zh-CN"/>
              <a:t>AFTVTVPKDLYVVEYGSQMTIECKFPVEKQLDLAALIVYWEMEDKNIIQFVHGEEDLKVQHSSYRQRARLLKDQLSLGNAALQITDVKLQDAGVYRCMISYGGADYKRITVKVNAPY/MKKKKIKIKKTYTFKGKVAEVSDITISHSPSAKVKVEVEVESYESGKLVVTITIEVEGEAKISIDITVKAKDGSEVELLKEEEEEEEEEL</a:t>
            </a:r>
            <a:endParaRPr lang="en-US" altLang="zh-CN"/>
          </a:p>
          <a:p>
            <a:endParaRPr lang="zh-CN" altLang="en-US"/>
          </a:p>
        </p:txBody>
      </p:sp>
      <p:pic>
        <p:nvPicPr>
          <p:cNvPr id="3" name="图片 2"/>
          <p:cNvPicPr/>
          <p:nvPr/>
        </p:nvPicPr>
        <p:blipFill>
          <a:blip r:embed="rId1"/>
          <a:stretch>
            <a:fillRect/>
          </a:stretch>
        </p:blipFill>
        <p:spPr>
          <a:xfrm>
            <a:off x="0" y="1153795"/>
            <a:ext cx="5072380" cy="3087370"/>
          </a:xfrm>
          <a:prstGeom prst="rect">
            <a:avLst/>
          </a:prstGeom>
        </p:spPr>
      </p:pic>
      <p:pic>
        <p:nvPicPr>
          <p:cNvPr id="4" name="图片 3"/>
          <p:cNvPicPr/>
          <p:nvPr/>
        </p:nvPicPr>
        <p:blipFill>
          <a:blip r:embed="rId2"/>
          <a:stretch>
            <a:fillRect/>
          </a:stretch>
        </p:blipFill>
        <p:spPr>
          <a:xfrm>
            <a:off x="6309995" y="1352931"/>
            <a:ext cx="5120640" cy="2517648"/>
          </a:xfrm>
          <a:prstGeom prst="rect">
            <a:avLst/>
          </a:prstGeom>
        </p:spPr>
      </p:pic>
      <p:sp>
        <p:nvSpPr>
          <p:cNvPr id="5" name="文本框 4"/>
          <p:cNvSpPr txBox="1"/>
          <p:nvPr/>
        </p:nvSpPr>
        <p:spPr>
          <a:xfrm>
            <a:off x="0" y="4241165"/>
            <a:ext cx="12192000" cy="1568450"/>
          </a:xfrm>
          <a:prstGeom prst="rect">
            <a:avLst/>
          </a:prstGeom>
        </p:spPr>
        <p:txBody>
          <a:bodyPr wrap="square">
            <a:spAutoFit/>
          </a:bodyPr>
          <a:p>
            <a:pPr marL="0" indent="0"/>
            <a:r>
              <a:rPr lang="en-US" altLang="zh-CN" sz="1600" b="0" i="0">
                <a:solidFill>
                  <a:srgbClr val="1F1F1F"/>
                </a:solidFill>
                <a:latin typeface="monospace"/>
                <a:ea typeface="monospace"/>
              </a:rPr>
              <a:t>2026-03-26 15:50:22,450 alphafold2_multimer_v1_model_1_seed_000 recycle=0 pLDDT=81.9 pTM=0.621 ipTM=0.236 2026-03-26 15:51:04,927 alphafold2_multimer_v1_model_1_seed_000 recycle=1 pLDDT=86.2 pTM=0.578 ipTM=0.121 tol=6.98 2026-03-26 15:51:14,117 alphafold2_multimer_v1_model_1_seed_000 recycle=2 pLDDT=89.5 pTM=0.577 ipTM=0.117 tol=3.12 2026-03-26 15:51:23,468 alphafold2_multimer_v1_model_1_seed_000 recycle=3 pLDDT=90.2 pTM=0.586 ipTM=0.138 tol=0.801 2026-03-26 15:51:23,469 alphafold2_multimer_v1_model_1_seed_000 took 102.4s (3 recycles)</a:t>
            </a:r>
            <a:endParaRPr lang="en-US" altLang="zh-CN" sz="1600" b="0" i="0">
              <a:solidFill>
                <a:srgbClr val="1F1F1F"/>
              </a:solidFill>
              <a:latin typeface="monospace"/>
              <a:ea typeface="monospace"/>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35" y="0"/>
            <a:ext cx="12192635" cy="1476375"/>
          </a:xfrm>
          <a:prstGeom prst="rect">
            <a:avLst/>
          </a:prstGeom>
          <a:noFill/>
        </p:spPr>
        <p:txBody>
          <a:bodyPr wrap="square" rtlCol="0" anchor="t">
            <a:spAutoFit/>
          </a:bodyPr>
          <a:p>
            <a:r>
              <a:rPr lang="en-US" altLang="zh-CN"/>
              <a:t>&gt;design:0 n:4|mpnn:1.070|plddt:0.848|i_ptm:0.083|i_pae:27.504|rmsd:16.239</a:t>
            </a:r>
            <a:endParaRPr lang="en-US" altLang="zh-CN"/>
          </a:p>
          <a:p>
            <a:r>
              <a:rPr lang="en-US" altLang="zh-CN"/>
              <a:t>AFTVTVPKDLYVVEYGSQMTIECKFPVEKQLDLAALIVYWEMEDKNIIQFVHGEEDLKVQHSSYRQRARLLKDQLSLGNAALQITDVKLQDAGVYRCMISYGGADYKRITVKVNAPY/AKKSKITITITIKSKDKIIEVSDIEISHSPSAKVKVNVEVEEFENGTLVVKITIEVTGPVNISINITVKSKDGSPVEIEKKEEKVEKEEL</a:t>
            </a:r>
            <a:endParaRPr lang="en-US" altLang="zh-CN"/>
          </a:p>
          <a:p>
            <a:endParaRPr lang="zh-CN" altLang="en-US"/>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4369</Words>
  <Application>WPS 文字</Application>
  <PresentationFormat>宽屏</PresentationFormat>
  <Paragraphs>46</Paragraphs>
  <Slides>10</Slides>
  <Notes>4</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10</vt:i4>
      </vt:variant>
    </vt:vector>
  </HeadingPairs>
  <TitlesOfParts>
    <vt:vector size="24" baseType="lpstr">
      <vt:lpstr>Arial</vt:lpstr>
      <vt:lpstr>宋体</vt:lpstr>
      <vt:lpstr>Wingdings</vt:lpstr>
      <vt:lpstr>Wingdings</vt:lpstr>
      <vt:lpstr>monospace</vt:lpstr>
      <vt:lpstr>Thonburi</vt:lpstr>
      <vt:lpstr>苹方-简</vt:lpstr>
      <vt:lpstr>微软雅黑</vt:lpstr>
      <vt:lpstr>汉仪旗黑</vt:lpstr>
      <vt:lpstr>宋体</vt:lpstr>
      <vt:lpstr>Arial Unicode MS</vt:lpstr>
      <vt:lpstr>monospace</vt:lpstr>
      <vt:lpstr>汉仪书宋二KW</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Elixir</cp:lastModifiedBy>
  <cp:revision>162</cp:revision>
  <dcterms:created xsi:type="dcterms:W3CDTF">2026-04-01T08:02:29Z</dcterms:created>
  <dcterms:modified xsi:type="dcterms:W3CDTF">2026-04-01T08:02:29Z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2052-7.2.2.8955</vt:lpwstr>
  </property>
  <property fmtid="{D5CDD505-2E9C-101B-9397-08002B2CF9AE}" pid="3" name="ICV">
    <vt:lpwstr>E18417DF8F488E2F694FC56918A7458D_41</vt:lpwstr>
  </property>
</Properties>
</file>